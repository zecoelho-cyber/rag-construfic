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6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17.png" ContentType="image/png"/>
  <Override PartName="/ppt/media/image8.png" ContentType="image/png"/>
  <Override PartName="/ppt/media/image1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4.png"/><Relationship Id="rId8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Relationship Id="rId6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00000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858000" y="182880"/>
            <a:ext cx="2011320" cy="319680"/>
          </a:xfrm>
          <a:prstGeom prst="rect">
            <a:avLst/>
          </a:prstGeom>
          <a:solidFill>
            <a:srgbClr val="003b00"/>
          </a:solidFill>
          <a:ln w="635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58000" y="18288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CONFIDENCIAL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4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PLANO DE MENTORIA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Construfic Materiais de Construção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8229240" cy="360"/>
          </a:xfrm>
          <a:prstGeom prst="rect">
            <a:avLst/>
          </a:prstGeom>
          <a:noFill/>
          <a:ln w="635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Chatbot RAG + Dashboard BI + Data Lake + Controle de Estoque Inteligente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Com Visitas Técnicas de Benchmarking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0cc33"/>
                </a:solidFill>
                <a:effectLst/>
                <a:uFillTx/>
                <a:latin typeface="Consolas"/>
                <a:ea typeface="Consolas"/>
              </a:rPr>
              <a:t>Unicamp RetailGPT   |   Leroy Merlin LM Tech   |   Magazine Luiza Luizalabs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4206240"/>
            <a:ext cx="8229240" cy="360"/>
          </a:xfrm>
          <a:prstGeom prst="rect">
            <a:avLst/>
          </a:prstGeom>
          <a:noFill/>
          <a:ln w="635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42976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ZTHUB — CTO Advisor  |  Preparado para: Antonio Figueiredo, CEO  |  Marco 2026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00000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Text 1"/>
          <p:cNvSpPr/>
          <p:nvPr/>
        </p:nvSpPr>
        <p:spPr>
          <a:xfrm>
            <a:off x="365760" y="22860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&gt;&gt;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2"/>
          <p:cNvSpPr/>
          <p:nvPr/>
        </p:nvSpPr>
        <p:spPr>
          <a:xfrm>
            <a:off x="914400" y="22860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O Que Vamos Discutir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3"/>
          <p:cNvSpPr/>
          <p:nvPr/>
        </p:nvSpPr>
        <p:spPr>
          <a:xfrm>
            <a:off x="365760" y="731520"/>
            <a:ext cx="8412480" cy="360"/>
          </a:xfrm>
          <a:prstGeom prst="line">
            <a:avLst/>
          </a:prstGeom>
          <a:ln w="12700">
            <a:solidFill>
              <a:srgbClr val="00ff4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Text 4"/>
          <p:cNvSpPr/>
          <p:nvPr/>
        </p:nvSpPr>
        <p:spPr>
          <a:xfrm>
            <a:off x="457200" y="8229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Agenda da Reunião — ~60 minutos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5"/>
          <p:cNvSpPr/>
          <p:nvPr/>
        </p:nvSpPr>
        <p:spPr>
          <a:xfrm>
            <a:off x="457200" y="1188720"/>
            <a:ext cx="411120" cy="347040"/>
          </a:xfrm>
          <a:prstGeom prst="rect">
            <a:avLst/>
          </a:prstGeom>
          <a:solidFill>
            <a:srgbClr val="00ff41"/>
          </a:solidFill>
          <a:ln w="635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Text 6"/>
          <p:cNvSpPr/>
          <p:nvPr/>
        </p:nvSpPr>
        <p:spPr>
          <a:xfrm>
            <a:off x="457200" y="1188720"/>
            <a:ext cx="411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a0a0a"/>
                </a:solidFill>
                <a:effectLst/>
                <a:uFillTx/>
                <a:latin typeface="Consolas"/>
                <a:ea typeface="Consolas"/>
              </a:rPr>
              <a:t>01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7"/>
          <p:cNvSpPr/>
          <p:nvPr/>
        </p:nvSpPr>
        <p:spPr>
          <a:xfrm>
            <a:off x="1051560" y="1188720"/>
            <a:ext cx="7589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00ff41"/>
                </a:solidFill>
                <a:effectLst/>
                <a:uFillTx/>
                <a:latin typeface="Calibri"/>
                <a:ea typeface="Calibri"/>
              </a:rPr>
              <a:t>Diagnóstico Atualizado: Dor #1 — Controle de Estoque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8"/>
          <p:cNvSpPr/>
          <p:nvPr/>
        </p:nvSpPr>
        <p:spPr>
          <a:xfrm>
            <a:off x="457200" y="1627560"/>
            <a:ext cx="411120" cy="347040"/>
          </a:xfrm>
          <a:prstGeom prst="rect">
            <a:avLst/>
          </a:prstGeom>
          <a:solidFill>
            <a:srgbClr val="111b11"/>
          </a:solidFill>
          <a:ln w="635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Text 9"/>
          <p:cNvSpPr/>
          <p:nvPr/>
        </p:nvSpPr>
        <p:spPr>
          <a:xfrm>
            <a:off x="457200" y="1627560"/>
            <a:ext cx="411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02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0"/>
          <p:cNvSpPr/>
          <p:nvPr/>
        </p:nvSpPr>
        <p:spPr>
          <a:xfrm>
            <a:off x="1051560" y="1627560"/>
            <a:ext cx="7589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Visão Proposta: Três Camadas de Valor + Novas Ferramentas de IA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1"/>
          <p:cNvSpPr/>
          <p:nvPr/>
        </p:nvSpPr>
        <p:spPr>
          <a:xfrm>
            <a:off x="457200" y="2066400"/>
            <a:ext cx="411120" cy="347040"/>
          </a:xfrm>
          <a:prstGeom prst="rect">
            <a:avLst/>
          </a:prstGeom>
          <a:solidFill>
            <a:srgbClr val="111b11"/>
          </a:solidFill>
          <a:ln w="635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Text 12"/>
          <p:cNvSpPr/>
          <p:nvPr/>
        </p:nvSpPr>
        <p:spPr>
          <a:xfrm>
            <a:off x="457200" y="2066400"/>
            <a:ext cx="411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03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3"/>
          <p:cNvSpPr/>
          <p:nvPr/>
        </p:nvSpPr>
        <p:spPr>
          <a:xfrm>
            <a:off x="1051560" y="2066400"/>
            <a:ext cx="7589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MVP Rápido: Validação em 3-5 Dias (NOVO!)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4"/>
          <p:cNvSpPr/>
          <p:nvPr/>
        </p:nvSpPr>
        <p:spPr>
          <a:xfrm>
            <a:off x="457200" y="2505600"/>
            <a:ext cx="411120" cy="347040"/>
          </a:xfrm>
          <a:prstGeom prst="rect">
            <a:avLst/>
          </a:prstGeom>
          <a:solidFill>
            <a:srgbClr val="111b11"/>
          </a:solidFill>
          <a:ln w="635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Text 15"/>
          <p:cNvSpPr/>
          <p:nvPr/>
        </p:nvSpPr>
        <p:spPr>
          <a:xfrm>
            <a:off x="457200" y="2505600"/>
            <a:ext cx="411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04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6"/>
          <p:cNvSpPr/>
          <p:nvPr/>
        </p:nvSpPr>
        <p:spPr>
          <a:xfrm>
            <a:off x="1051560" y="2505600"/>
            <a:ext cx="7589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Visitas de Benchmarking (3 empresas)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7"/>
          <p:cNvSpPr/>
          <p:nvPr/>
        </p:nvSpPr>
        <p:spPr>
          <a:xfrm>
            <a:off x="457200" y="2944440"/>
            <a:ext cx="411120" cy="347040"/>
          </a:xfrm>
          <a:prstGeom prst="rect">
            <a:avLst/>
          </a:prstGeom>
          <a:solidFill>
            <a:srgbClr val="111b11"/>
          </a:solidFill>
          <a:ln w="635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Text 18"/>
          <p:cNvSpPr/>
          <p:nvPr/>
        </p:nvSpPr>
        <p:spPr>
          <a:xfrm>
            <a:off x="457200" y="2944440"/>
            <a:ext cx="411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05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9"/>
          <p:cNvSpPr/>
          <p:nvPr/>
        </p:nvSpPr>
        <p:spPr>
          <a:xfrm>
            <a:off x="1051560" y="2944440"/>
            <a:ext cx="7589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Fase 1 — POC de 3 Meses (Semana a Semana)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0"/>
          <p:cNvSpPr/>
          <p:nvPr/>
        </p:nvSpPr>
        <p:spPr>
          <a:xfrm>
            <a:off x="457200" y="3383280"/>
            <a:ext cx="411120" cy="347040"/>
          </a:xfrm>
          <a:prstGeom prst="rect">
            <a:avLst/>
          </a:prstGeom>
          <a:solidFill>
            <a:srgbClr val="111b11"/>
          </a:solidFill>
          <a:ln w="635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Text 21"/>
          <p:cNvSpPr/>
          <p:nvPr/>
        </p:nvSpPr>
        <p:spPr>
          <a:xfrm>
            <a:off x="457200" y="3383280"/>
            <a:ext cx="411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06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2"/>
          <p:cNvSpPr/>
          <p:nvPr/>
        </p:nvSpPr>
        <p:spPr>
          <a:xfrm>
            <a:off x="1051560" y="3383280"/>
            <a:ext cx="7589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Go/No-Go: Critérios de Decisão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3"/>
          <p:cNvSpPr/>
          <p:nvPr/>
        </p:nvSpPr>
        <p:spPr>
          <a:xfrm>
            <a:off x="457200" y="3822120"/>
            <a:ext cx="411120" cy="347040"/>
          </a:xfrm>
          <a:prstGeom prst="rect">
            <a:avLst/>
          </a:prstGeom>
          <a:solidFill>
            <a:srgbClr val="111b11"/>
          </a:solidFill>
          <a:ln w="635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Text 24"/>
          <p:cNvSpPr/>
          <p:nvPr/>
        </p:nvSpPr>
        <p:spPr>
          <a:xfrm>
            <a:off x="457200" y="3822120"/>
            <a:ext cx="411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07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5"/>
          <p:cNvSpPr/>
          <p:nvPr/>
        </p:nvSpPr>
        <p:spPr>
          <a:xfrm>
            <a:off x="1051560" y="3822120"/>
            <a:ext cx="7589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Fase 2 — Produção (9 Meses)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6"/>
          <p:cNvSpPr/>
          <p:nvPr/>
        </p:nvSpPr>
        <p:spPr>
          <a:xfrm>
            <a:off x="457200" y="4260960"/>
            <a:ext cx="411120" cy="347040"/>
          </a:xfrm>
          <a:prstGeom prst="rect">
            <a:avLst/>
          </a:prstGeom>
          <a:solidFill>
            <a:srgbClr val="111b11"/>
          </a:solidFill>
          <a:ln w="635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Text 27"/>
          <p:cNvSpPr/>
          <p:nvPr/>
        </p:nvSpPr>
        <p:spPr>
          <a:xfrm>
            <a:off x="457200" y="4260960"/>
            <a:ext cx="411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08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8"/>
          <p:cNvSpPr/>
          <p:nvPr/>
        </p:nvSpPr>
        <p:spPr>
          <a:xfrm>
            <a:off x="1051560" y="4260960"/>
            <a:ext cx="7589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Investimento, ROI e Fornecedores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9"/>
          <p:cNvSpPr/>
          <p:nvPr/>
        </p:nvSpPr>
        <p:spPr>
          <a:xfrm>
            <a:off x="457200" y="4700160"/>
            <a:ext cx="411120" cy="347040"/>
          </a:xfrm>
          <a:prstGeom prst="rect">
            <a:avLst/>
          </a:prstGeom>
          <a:solidFill>
            <a:srgbClr val="111b11"/>
          </a:solidFill>
          <a:ln w="635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Text 30"/>
          <p:cNvSpPr/>
          <p:nvPr/>
        </p:nvSpPr>
        <p:spPr>
          <a:xfrm>
            <a:off x="457200" y="4700160"/>
            <a:ext cx="411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09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31"/>
          <p:cNvSpPr/>
          <p:nvPr/>
        </p:nvSpPr>
        <p:spPr>
          <a:xfrm>
            <a:off x="1051560" y="4700160"/>
            <a:ext cx="7589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LGPD, Riscos e Próximos Passos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9"/>
          <p:cNvSpPr/>
          <p:nvPr/>
        </p:nvSpPr>
        <p:spPr>
          <a:xfrm>
            <a:off x="457200" y="470916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Construfic Materiais de Construção — Plano de Mentoria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0"/>
          <p:cNvSpPr/>
          <p:nvPr/>
        </p:nvSpPr>
        <p:spPr>
          <a:xfrm>
            <a:off x="7772400" y="47091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2 / 20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00000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Text 1"/>
          <p:cNvSpPr/>
          <p:nvPr/>
        </p:nvSpPr>
        <p:spPr>
          <a:xfrm>
            <a:off x="365760" y="22860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01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"/>
          <p:cNvSpPr/>
          <p:nvPr/>
        </p:nvSpPr>
        <p:spPr>
          <a:xfrm>
            <a:off x="914400" y="22860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Situação Atual da Construfic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3"/>
          <p:cNvSpPr/>
          <p:nvPr/>
        </p:nvSpPr>
        <p:spPr>
          <a:xfrm>
            <a:off x="365760" y="731520"/>
            <a:ext cx="8412480" cy="360"/>
          </a:xfrm>
          <a:prstGeom prst="line">
            <a:avLst/>
          </a:prstGeom>
          <a:ln w="12700">
            <a:solidFill>
              <a:srgbClr val="00ff4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Text 4"/>
          <p:cNvSpPr/>
          <p:nvPr/>
        </p:nvSpPr>
        <p:spPr>
          <a:xfrm>
            <a:off x="457200" y="8229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Dores identificadas — Reunião estratégica 02/03/2026 com CEO e Gerente Diogo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5"/>
          <p:cNvSpPr/>
          <p:nvPr/>
        </p:nvSpPr>
        <p:spPr>
          <a:xfrm>
            <a:off x="365760" y="1234440"/>
            <a:ext cx="2697120" cy="1691280"/>
          </a:xfrm>
          <a:prstGeom prst="rect">
            <a:avLst/>
          </a:prstGeom>
          <a:solidFill>
            <a:srgbClr val="0d1f0d"/>
          </a:solidFill>
          <a:ln w="12700">
            <a:solidFill>
              <a:srgbClr val="00ff41"/>
            </a:solidFill>
            <a:round/>
          </a:ln>
          <a:effectLst>
            <a:outerShdw algn="bl" blurRad="76320" dir="8100000" dist="25455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3" name="Image 0" descr="preencoded.png"/>
          <p:cNvPicPr/>
          <p:nvPr/>
        </p:nvPicPr>
        <p:blipFill>
          <a:blip r:embed="rId2"/>
          <a:stretch/>
        </p:blipFill>
        <p:spPr>
          <a:xfrm>
            <a:off x="502920" y="13716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Text 6"/>
          <p:cNvSpPr/>
          <p:nvPr/>
        </p:nvSpPr>
        <p:spPr>
          <a:xfrm>
            <a:off x="914400" y="134424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PRIORIDADE #1: Estoque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7"/>
          <p:cNvSpPr/>
          <p:nvPr/>
        </p:nvSpPr>
        <p:spPr>
          <a:xfrm>
            <a:off x="502920" y="1783080"/>
            <a:ext cx="24228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Disparidade cronica entre estoque fisico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e sistema Santri. Impede análises de giro,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sazonalidade e tendencias de compra.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8"/>
          <p:cNvSpPr/>
          <p:nvPr/>
        </p:nvSpPr>
        <p:spPr>
          <a:xfrm>
            <a:off x="3200400" y="1234440"/>
            <a:ext cx="2697120" cy="169128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round/>
          </a:ln>
          <a:effectLst>
            <a:outerShdw algn="bl" blurRad="76320" dir="8100000" dist="25455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7" name="Image 1" descr="preencoded.png"/>
          <p:cNvPicPr/>
          <p:nvPr/>
        </p:nvPicPr>
        <p:blipFill>
          <a:blip r:embed="rId3"/>
          <a:stretch/>
        </p:blipFill>
        <p:spPr>
          <a:xfrm>
            <a:off x="3337560" y="13716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Text 9"/>
          <p:cNvSpPr/>
          <p:nvPr/>
        </p:nvSpPr>
        <p:spPr>
          <a:xfrm>
            <a:off x="3749040" y="134424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CEO Sem Visibilidade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0"/>
          <p:cNvSpPr/>
          <p:nvPr/>
        </p:nvSpPr>
        <p:spPr>
          <a:xfrm>
            <a:off x="3337560" y="1783080"/>
            <a:ext cx="24228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Sem dashboard nem indicadores.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Decisoes baseadas em intuicao.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1"/>
          <p:cNvSpPr/>
          <p:nvPr/>
        </p:nvSpPr>
        <p:spPr>
          <a:xfrm>
            <a:off x="6035040" y="1234440"/>
            <a:ext cx="2697120" cy="169128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round/>
          </a:ln>
          <a:effectLst>
            <a:outerShdw algn="bl" blurRad="76320" dir="8100000" dist="25455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1" name="Image 2" descr="preencoded.png"/>
          <p:cNvPicPr/>
          <p:nvPr/>
        </p:nvPicPr>
        <p:blipFill>
          <a:blip r:embed="rId4"/>
          <a:stretch/>
        </p:blipFill>
        <p:spPr>
          <a:xfrm>
            <a:off x="6172200" y="13716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Text 12"/>
          <p:cNvSpPr/>
          <p:nvPr/>
        </p:nvSpPr>
        <p:spPr>
          <a:xfrm>
            <a:off x="6583680" y="134424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Vendedores Sem Respostas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3"/>
          <p:cNvSpPr/>
          <p:nvPr/>
        </p:nvSpPr>
        <p:spPr>
          <a:xfrm>
            <a:off x="6172200" y="1783080"/>
            <a:ext cx="24228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Perguntas técnicas demoram ou ficam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sem resposta. Perda de vendas.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4"/>
          <p:cNvSpPr/>
          <p:nvPr/>
        </p:nvSpPr>
        <p:spPr>
          <a:xfrm>
            <a:off x="365760" y="3063240"/>
            <a:ext cx="2697120" cy="169128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round/>
          </a:ln>
          <a:effectLst>
            <a:outerShdw algn="bl" blurRad="76320" dir="8100000" dist="25455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5" name="Image 3" descr="preencoded.png"/>
          <p:cNvPicPr/>
          <p:nvPr/>
        </p:nvPicPr>
        <p:blipFill>
          <a:blip r:embed="rId5"/>
          <a:stretch/>
        </p:blipFill>
        <p:spPr>
          <a:xfrm>
            <a:off x="502920" y="32004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Text 15"/>
          <p:cNvSpPr/>
          <p:nvPr/>
        </p:nvSpPr>
        <p:spPr>
          <a:xfrm>
            <a:off x="914400" y="317304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Dados Espalhados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6"/>
          <p:cNvSpPr/>
          <p:nvPr/>
        </p:nvSpPr>
        <p:spPr>
          <a:xfrm>
            <a:off x="502920" y="3611880"/>
            <a:ext cx="24228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ERP Santri + planilhas + catálogos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fisicos. Nenhuma fonte unica.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7"/>
          <p:cNvSpPr/>
          <p:nvPr/>
        </p:nvSpPr>
        <p:spPr>
          <a:xfrm>
            <a:off x="3200400" y="3063240"/>
            <a:ext cx="2697120" cy="169128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round/>
          </a:ln>
          <a:effectLst>
            <a:outerShdw algn="bl" blurRad="76320" dir="8100000" dist="25455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9" name="Image 4" descr="preencoded.png"/>
          <p:cNvPicPr/>
          <p:nvPr/>
        </p:nvPicPr>
        <p:blipFill>
          <a:blip r:embed="rId6"/>
          <a:stretch/>
        </p:blipFill>
        <p:spPr>
          <a:xfrm>
            <a:off x="3337560" y="32004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Text 18"/>
          <p:cNvSpPr/>
          <p:nvPr/>
        </p:nvSpPr>
        <p:spPr>
          <a:xfrm>
            <a:off x="3749040" y="317304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Quase Zero Canal Digital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9"/>
          <p:cNvSpPr/>
          <p:nvPr/>
        </p:nvSpPr>
        <p:spPr>
          <a:xfrm>
            <a:off x="3337560" y="3611880"/>
            <a:ext cx="24228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Sem WhatsApp bot, sem e-commerce.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Concorrencia online avanca.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20"/>
          <p:cNvSpPr/>
          <p:nvPr/>
        </p:nvSpPr>
        <p:spPr>
          <a:xfrm>
            <a:off x="6035040" y="3063240"/>
            <a:ext cx="2697120" cy="169128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round/>
          </a:ln>
          <a:effectLst>
            <a:outerShdw algn="bl" blurRad="76320" dir="8100000" dist="25455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3" name="Image 5" descr="preencoded.png"/>
          <p:cNvPicPr/>
          <p:nvPr/>
        </p:nvPicPr>
        <p:blipFill>
          <a:blip r:embed="rId7"/>
          <a:stretch/>
        </p:blipFill>
        <p:spPr>
          <a:xfrm>
            <a:off x="6172200" y="32004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 21"/>
          <p:cNvSpPr/>
          <p:nvPr/>
        </p:nvSpPr>
        <p:spPr>
          <a:xfrm>
            <a:off x="6583680" y="317304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Concorrencia Pesada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2"/>
          <p:cNvSpPr/>
          <p:nvPr/>
        </p:nvSpPr>
        <p:spPr>
          <a:xfrm>
            <a:off x="6172200" y="3611880"/>
            <a:ext cx="24228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Leroy Merlin e marketplaces com IA,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logistica e preços agressivos.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3"/>
          <p:cNvSpPr/>
          <p:nvPr/>
        </p:nvSpPr>
        <p:spPr>
          <a:xfrm>
            <a:off x="457200" y="470916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Construfic Materiais de Construção — Plano de Mentoria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4"/>
          <p:cNvSpPr/>
          <p:nvPr/>
        </p:nvSpPr>
        <p:spPr>
          <a:xfrm>
            <a:off x="7772400" y="47091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3 / 20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00000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 1"/>
          <p:cNvSpPr/>
          <p:nvPr/>
        </p:nvSpPr>
        <p:spPr>
          <a:xfrm>
            <a:off x="365760" y="22860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02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"/>
          <p:cNvSpPr/>
          <p:nvPr/>
        </p:nvSpPr>
        <p:spPr>
          <a:xfrm>
            <a:off x="914400" y="22860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A Solução Proposta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3"/>
          <p:cNvSpPr/>
          <p:nvPr/>
        </p:nvSpPr>
        <p:spPr>
          <a:xfrm>
            <a:off x="365760" y="731520"/>
            <a:ext cx="8412480" cy="360"/>
          </a:xfrm>
          <a:prstGeom prst="line">
            <a:avLst/>
          </a:prstGeom>
          <a:ln w="12700">
            <a:solidFill>
              <a:srgbClr val="00ff4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 4"/>
          <p:cNvSpPr/>
          <p:nvPr/>
        </p:nvSpPr>
        <p:spPr>
          <a:xfrm>
            <a:off x="457200" y="8229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Tecnologia a serviço do negócio — atualizado com inputs da reunião 02/03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5"/>
          <p:cNvSpPr/>
          <p:nvPr/>
        </p:nvSpPr>
        <p:spPr>
          <a:xfrm>
            <a:off x="365760" y="1188720"/>
            <a:ext cx="420588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US" sz="1000" strike="noStrike" u="none">
                <a:solidFill>
                  <a:srgbClr val="707070"/>
                </a:solidFill>
                <a:effectLst/>
                <a:uFillTx/>
                <a:latin typeface="Calibri"/>
              </a:rPr>
              <a:t>Qual a solução sendo proposta para ser validada: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b0b0b0"/>
                </a:solidFill>
                <a:effectLst/>
                <a:uFillTx/>
                <a:latin typeface="Calibri"/>
              </a:rPr>
              <a:t>Um assistente inteligente que responde perguntas técnicas sobre produtos, consultando o catálogo real da Construfic. Integrado ao WhatsApp com transcrição de audio — vendedor envia audio e recebe resposta instantânea sem manusear o ERP Santri.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b0b0b0"/>
                </a:solidFill>
                <a:effectLst/>
                <a:uFillTx/>
                <a:latin typeface="Calibri"/>
              </a:rPr>
              <a:t>Ao mesmo tempo, um Data Lake organiza todos os dados dispersos e alimenta um dashboard de indicadores com foco em CONTROLE DE ESTOQUE (prioridade #1 do CEO) — a primeira entrega tangível do projeto.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0ff41"/>
                </a:solidFill>
                <a:effectLst/>
                <a:uFillTx/>
                <a:latin typeface="Calibri"/>
              </a:rPr>
              <a:t>Novidades da reunião: </a:t>
            </a:r>
            <a:r>
              <a:rPr b="0" lang="en-US" sz="1000" strike="noStrike" u="none">
                <a:solidFill>
                  <a:srgbClr val="00ff41"/>
                </a:solidFill>
                <a:effectLst/>
                <a:uFillTx/>
                <a:latin typeface="Calibri"/>
              </a:rPr>
              <a:t>cross-sell/up-sell inteligente (modelo McDonald's), IA visual remota mencionada (visão computacional para estoque - futuro).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6"/>
          <p:cNvSpPr/>
          <p:nvPr/>
        </p:nvSpPr>
        <p:spPr>
          <a:xfrm>
            <a:off x="4846320" y="1188720"/>
            <a:ext cx="3931560" cy="47520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5" name="Image 0" descr="preencoded.png"/>
          <p:cNvPicPr/>
          <p:nvPr/>
        </p:nvPicPr>
        <p:blipFill>
          <a:blip r:embed="rId2"/>
          <a:stretch/>
        </p:blipFill>
        <p:spPr>
          <a:xfrm>
            <a:off x="4937760" y="12618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Text 7"/>
          <p:cNvSpPr/>
          <p:nvPr/>
        </p:nvSpPr>
        <p:spPr>
          <a:xfrm>
            <a:off x="5349240" y="1188720"/>
            <a:ext cx="16455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Chatbot RAG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8"/>
          <p:cNvSpPr/>
          <p:nvPr/>
        </p:nvSpPr>
        <p:spPr>
          <a:xfrm>
            <a:off x="6949440" y="1188720"/>
            <a:ext cx="17370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GPT-4o-mini + LangChain + pgvector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9"/>
          <p:cNvSpPr/>
          <p:nvPr/>
        </p:nvSpPr>
        <p:spPr>
          <a:xfrm>
            <a:off x="4846320" y="1737360"/>
            <a:ext cx="3931560" cy="47520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9" name="Image 1" descr="preencoded.png"/>
          <p:cNvPicPr/>
          <p:nvPr/>
        </p:nvPicPr>
        <p:blipFill>
          <a:blip r:embed="rId3"/>
          <a:stretch/>
        </p:blipFill>
        <p:spPr>
          <a:xfrm>
            <a:off x="4937760" y="181044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Text 10"/>
          <p:cNvSpPr/>
          <p:nvPr/>
        </p:nvSpPr>
        <p:spPr>
          <a:xfrm>
            <a:off x="5349240" y="1737360"/>
            <a:ext cx="16455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WhatsApp API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1"/>
          <p:cNvSpPr/>
          <p:nvPr/>
        </p:nvSpPr>
        <p:spPr>
          <a:xfrm>
            <a:off x="6949440" y="1737360"/>
            <a:ext cx="17370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Audio transcription + atendimento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2"/>
          <p:cNvSpPr/>
          <p:nvPr/>
        </p:nvSpPr>
        <p:spPr>
          <a:xfrm>
            <a:off x="4846320" y="2286000"/>
            <a:ext cx="3931560" cy="47520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3" name="Image 2" descr="preencoded.png"/>
          <p:cNvPicPr/>
          <p:nvPr/>
        </p:nvPicPr>
        <p:blipFill>
          <a:blip r:embed="rId4"/>
          <a:stretch/>
        </p:blipFill>
        <p:spPr>
          <a:xfrm>
            <a:off x="4937760" y="23590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Text 13"/>
          <p:cNvSpPr/>
          <p:nvPr/>
        </p:nvSpPr>
        <p:spPr>
          <a:xfrm>
            <a:off x="5349240" y="2286000"/>
            <a:ext cx="16455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Dashboard BI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4"/>
          <p:cNvSpPr/>
          <p:nvPr/>
        </p:nvSpPr>
        <p:spPr>
          <a:xfrm>
            <a:off x="6949440" y="2286000"/>
            <a:ext cx="17370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Metabase — estoque, faturamento, margens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5"/>
          <p:cNvSpPr/>
          <p:nvPr/>
        </p:nvSpPr>
        <p:spPr>
          <a:xfrm>
            <a:off x="4846320" y="2834640"/>
            <a:ext cx="3931560" cy="47520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7" name="Image 3" descr="preencoded.png"/>
          <p:cNvPicPr/>
          <p:nvPr/>
        </p:nvPicPr>
        <p:blipFill>
          <a:blip r:embed="rId5"/>
          <a:stretch/>
        </p:blipFill>
        <p:spPr>
          <a:xfrm>
            <a:off x="4937760" y="290772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 16"/>
          <p:cNvSpPr/>
          <p:nvPr/>
        </p:nvSpPr>
        <p:spPr>
          <a:xfrm>
            <a:off x="5349240" y="2834640"/>
            <a:ext cx="16455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Data Lake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7"/>
          <p:cNvSpPr/>
          <p:nvPr/>
        </p:nvSpPr>
        <p:spPr>
          <a:xfrm>
            <a:off x="6949440" y="2834640"/>
            <a:ext cx="17370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AWS S3 — raw / processed / curated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8"/>
          <p:cNvSpPr/>
          <p:nvPr/>
        </p:nvSpPr>
        <p:spPr>
          <a:xfrm>
            <a:off x="4846320" y="3383280"/>
            <a:ext cx="3931560" cy="47520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1" name="Image 4" descr="preencoded.png"/>
          <p:cNvPicPr/>
          <p:nvPr/>
        </p:nvPicPr>
        <p:blipFill>
          <a:blip r:embed="rId6"/>
          <a:stretch/>
        </p:blipFill>
        <p:spPr>
          <a:xfrm>
            <a:off x="4937760" y="34563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Text 19"/>
          <p:cNvSpPr/>
          <p:nvPr/>
        </p:nvSpPr>
        <p:spPr>
          <a:xfrm>
            <a:off x="5349240" y="3383280"/>
            <a:ext cx="16455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ERP Santri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0"/>
          <p:cNvSpPr/>
          <p:nvPr/>
        </p:nvSpPr>
        <p:spPr>
          <a:xfrm>
            <a:off x="6949440" y="3383280"/>
            <a:ext cx="17370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API pre-autorizada pelo CEO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21"/>
          <p:cNvSpPr/>
          <p:nvPr/>
        </p:nvSpPr>
        <p:spPr>
          <a:xfrm>
            <a:off x="4846320" y="3931920"/>
            <a:ext cx="3931560" cy="47520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5" name="Image 5" descr="preencoded.png"/>
          <p:cNvPicPr/>
          <p:nvPr/>
        </p:nvPicPr>
        <p:blipFill>
          <a:blip r:embed="rId7"/>
          <a:stretch/>
        </p:blipFill>
        <p:spPr>
          <a:xfrm>
            <a:off x="4937760" y="40050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ext 22"/>
          <p:cNvSpPr/>
          <p:nvPr/>
        </p:nvSpPr>
        <p:spPr>
          <a:xfrm>
            <a:off x="5349240" y="3931920"/>
            <a:ext cx="16455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Visão Computacional (futuro remoto)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3"/>
          <p:cNvSpPr/>
          <p:nvPr/>
        </p:nvSpPr>
        <p:spPr>
          <a:xfrm>
            <a:off x="6949440" y="3931920"/>
            <a:ext cx="17370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Possibilidade remota mencionada apenas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4"/>
          <p:cNvSpPr/>
          <p:nvPr/>
        </p:nvSpPr>
        <p:spPr>
          <a:xfrm>
            <a:off x="457200" y="470916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Construfic Materiais de Construção — Plano de Mentoria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5"/>
          <p:cNvSpPr/>
          <p:nvPr/>
        </p:nvSpPr>
        <p:spPr>
          <a:xfrm>
            <a:off x="7772400" y="47091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4 / 20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00000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 1"/>
          <p:cNvSpPr/>
          <p:nvPr/>
        </p:nvSpPr>
        <p:spPr>
          <a:xfrm>
            <a:off x="365760" y="22860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03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"/>
          <p:cNvSpPr/>
          <p:nvPr/>
        </p:nvSpPr>
        <p:spPr>
          <a:xfrm>
            <a:off x="914400" y="22860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Três Camadas de Valor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3"/>
          <p:cNvSpPr/>
          <p:nvPr/>
        </p:nvSpPr>
        <p:spPr>
          <a:xfrm>
            <a:off x="365760" y="731520"/>
            <a:ext cx="8412480" cy="360"/>
          </a:xfrm>
          <a:prstGeom prst="line">
            <a:avLst/>
          </a:prstGeom>
          <a:ln w="12700">
            <a:solidFill>
              <a:srgbClr val="00ff4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 4"/>
          <p:cNvSpPr/>
          <p:nvPr/>
        </p:nvSpPr>
        <p:spPr>
          <a:xfrm>
            <a:off x="457200" y="8229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O Data Lake que alimenta o chatbot e o MESMO que alimenta o dashboard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5"/>
          <p:cNvSpPr/>
          <p:nvPr/>
        </p:nvSpPr>
        <p:spPr>
          <a:xfrm>
            <a:off x="365760" y="1234440"/>
            <a:ext cx="2742840" cy="3291480"/>
          </a:xfrm>
          <a:prstGeom prst="rect">
            <a:avLst/>
          </a:prstGeom>
          <a:solidFill>
            <a:srgbClr val="111b11"/>
          </a:solidFill>
          <a:ln w="12700">
            <a:solidFill>
              <a:srgbClr val="00ff41"/>
            </a:solidFill>
            <a:round/>
          </a:ln>
          <a:effectLst>
            <a:outerShdw algn="bl" blurRad="76320" dir="8100000" dist="25455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Shape 6"/>
          <p:cNvSpPr/>
          <p:nvPr/>
        </p:nvSpPr>
        <p:spPr>
          <a:xfrm>
            <a:off x="1417320" y="1371600"/>
            <a:ext cx="594360" cy="594360"/>
          </a:xfrm>
          <a:prstGeom prst="line">
            <a:avLst/>
          </a:prstGeom>
          <a:ln w="1270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 8"/>
          <p:cNvSpPr/>
          <p:nvPr/>
        </p:nvSpPr>
        <p:spPr>
          <a:xfrm>
            <a:off x="502920" y="205740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Dashboard BI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9"/>
          <p:cNvSpPr/>
          <p:nvPr/>
        </p:nvSpPr>
        <p:spPr>
          <a:xfrm>
            <a:off x="1005840" y="2468880"/>
            <a:ext cx="1462680" cy="273960"/>
          </a:xfrm>
          <a:prstGeom prst="rect">
            <a:avLst/>
          </a:prstGeom>
          <a:solidFill>
            <a:srgbClr val="003b00"/>
          </a:solidFill>
          <a:ln w="635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 10"/>
          <p:cNvSpPr/>
          <p:nvPr/>
        </p:nvSpPr>
        <p:spPr>
          <a:xfrm>
            <a:off x="1005840" y="246888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Mes 2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1"/>
          <p:cNvSpPr/>
          <p:nvPr/>
        </p:nvSpPr>
        <p:spPr>
          <a:xfrm>
            <a:off x="502920" y="2880360"/>
            <a:ext cx="2468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00cc33"/>
                </a:solidFill>
                <a:effectLst/>
                <a:uFillTx/>
                <a:latin typeface="Calibri"/>
                <a:ea typeface="Calibri"/>
              </a:rPr>
              <a:t>Dor resolvida: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2"/>
          <p:cNvSpPr/>
          <p:nvPr/>
        </p:nvSpPr>
        <p:spPr>
          <a:xfrm>
            <a:off x="502920" y="306324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CEO sem controle de estoque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 visibilidade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3"/>
          <p:cNvSpPr/>
          <p:nvPr/>
        </p:nvSpPr>
        <p:spPr>
          <a:xfrm>
            <a:off x="502920" y="3566160"/>
            <a:ext cx="2468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Controle de estoque (fisico vs. sistema),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faturamento, ticket medio, margem por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categoria, giro de produtos.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4"/>
          <p:cNvSpPr/>
          <p:nvPr/>
        </p:nvSpPr>
        <p:spPr>
          <a:xfrm>
            <a:off x="3246120" y="1234440"/>
            <a:ext cx="2742840" cy="329148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round/>
          </a:ln>
          <a:effectLst>
            <a:outerShdw algn="bl" blurRad="76320" dir="8100000" dist="25455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4" name="Shape 15"/>
          <p:cNvSpPr/>
          <p:nvPr/>
        </p:nvSpPr>
        <p:spPr>
          <a:xfrm>
            <a:off x="4297680" y="1371600"/>
            <a:ext cx="594360" cy="594360"/>
          </a:xfrm>
          <a:prstGeom prst="line">
            <a:avLst/>
          </a:prstGeom>
          <a:ln w="1270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 16"/>
          <p:cNvSpPr/>
          <p:nvPr/>
        </p:nvSpPr>
        <p:spPr>
          <a:xfrm>
            <a:off x="4297680" y="137160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7"/>
          <p:cNvSpPr/>
          <p:nvPr/>
        </p:nvSpPr>
        <p:spPr>
          <a:xfrm>
            <a:off x="3383280" y="205740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Chatbot RAG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8"/>
          <p:cNvSpPr/>
          <p:nvPr/>
        </p:nvSpPr>
        <p:spPr>
          <a:xfrm>
            <a:off x="3886200" y="2468880"/>
            <a:ext cx="1462680" cy="273960"/>
          </a:xfrm>
          <a:prstGeom prst="rect">
            <a:avLst/>
          </a:prstGeom>
          <a:solidFill>
            <a:srgbClr val="003b00"/>
          </a:solidFill>
          <a:ln w="635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 19"/>
          <p:cNvSpPr/>
          <p:nvPr/>
        </p:nvSpPr>
        <p:spPr>
          <a:xfrm>
            <a:off x="3886200" y="246888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Mes 3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0"/>
          <p:cNvSpPr/>
          <p:nvPr/>
        </p:nvSpPr>
        <p:spPr>
          <a:xfrm>
            <a:off x="3383280" y="2880360"/>
            <a:ext cx="2468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00cc33"/>
                </a:solidFill>
                <a:effectLst/>
                <a:uFillTx/>
                <a:latin typeface="Calibri"/>
                <a:ea typeface="Calibri"/>
              </a:rPr>
              <a:t>Dor resolvida: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1"/>
          <p:cNvSpPr/>
          <p:nvPr/>
        </p:nvSpPr>
        <p:spPr>
          <a:xfrm>
            <a:off x="3383280" y="306324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Vendedores sem respostas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2"/>
          <p:cNvSpPr/>
          <p:nvPr/>
        </p:nvSpPr>
        <p:spPr>
          <a:xfrm>
            <a:off x="3383280" y="3566160"/>
            <a:ext cx="2468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Assistente que consulta catálogo real.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WhatsApp com transcrição de audio.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Cross-sell/up-sell inteligente.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23"/>
          <p:cNvSpPr/>
          <p:nvPr/>
        </p:nvSpPr>
        <p:spPr>
          <a:xfrm>
            <a:off x="6126480" y="1234440"/>
            <a:ext cx="2742840" cy="329148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round/>
          </a:ln>
          <a:effectLst>
            <a:outerShdw algn="bl" blurRad="76320" dir="8100000" dist="25455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Shape 24"/>
          <p:cNvSpPr/>
          <p:nvPr/>
        </p:nvSpPr>
        <p:spPr>
          <a:xfrm>
            <a:off x="7178040" y="1371600"/>
            <a:ext cx="594360" cy="594360"/>
          </a:xfrm>
          <a:prstGeom prst="line">
            <a:avLst/>
          </a:prstGeom>
          <a:ln w="1270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 25"/>
          <p:cNvSpPr/>
          <p:nvPr/>
        </p:nvSpPr>
        <p:spPr>
          <a:xfrm>
            <a:off x="7178040" y="137160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6"/>
          <p:cNvSpPr/>
          <p:nvPr/>
        </p:nvSpPr>
        <p:spPr>
          <a:xfrm>
            <a:off x="6263640" y="205740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BI Conversacional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27"/>
          <p:cNvSpPr/>
          <p:nvPr/>
        </p:nvSpPr>
        <p:spPr>
          <a:xfrm>
            <a:off x="6766560" y="2468880"/>
            <a:ext cx="1462680" cy="273960"/>
          </a:xfrm>
          <a:prstGeom prst="rect">
            <a:avLst/>
          </a:prstGeom>
          <a:solidFill>
            <a:srgbClr val="003b00"/>
          </a:solidFill>
          <a:ln w="635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 28"/>
          <p:cNvSpPr/>
          <p:nvPr/>
        </p:nvSpPr>
        <p:spPr>
          <a:xfrm>
            <a:off x="6766560" y="246888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Fase 2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9"/>
          <p:cNvSpPr/>
          <p:nvPr/>
        </p:nvSpPr>
        <p:spPr>
          <a:xfrm>
            <a:off x="6263640" y="2880360"/>
            <a:ext cx="2468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00cc33"/>
                </a:solidFill>
                <a:effectLst/>
                <a:uFillTx/>
                <a:latin typeface="Calibri"/>
                <a:ea typeface="Calibri"/>
              </a:rPr>
              <a:t>Dor resolvida: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30"/>
          <p:cNvSpPr/>
          <p:nvPr/>
        </p:nvSpPr>
        <p:spPr>
          <a:xfrm>
            <a:off x="6263640" y="306324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Decisoes sem planilhas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1"/>
          <p:cNvSpPr/>
          <p:nvPr/>
        </p:nvSpPr>
        <p:spPr>
          <a:xfrm>
            <a:off x="6263640" y="3566160"/>
            <a:ext cx="2468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CEO pergunta em portugues: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vs. ano passado?' e recebe resposta.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32"/>
          <p:cNvSpPr/>
          <p:nvPr/>
        </p:nvSpPr>
        <p:spPr>
          <a:xfrm>
            <a:off x="457200" y="470916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Construfic Materiais de Construção — Plano de Mentoria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33"/>
          <p:cNvSpPr/>
          <p:nvPr/>
        </p:nvSpPr>
        <p:spPr>
          <a:xfrm>
            <a:off x="7772400" y="47091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5 / 20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6"/>
          <p:cNvSpPr/>
          <p:nvPr/>
        </p:nvSpPr>
        <p:spPr>
          <a:xfrm>
            <a:off x="1371600" y="134892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ff41"/>
                </a:solidFill>
                <a:effectLst/>
                <a:uFillTx/>
                <a:latin typeface="Consolas"/>
              </a:rPr>
              <a:t>1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00000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365760" y="22860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NOVO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"/>
          <p:cNvSpPr/>
          <p:nvPr/>
        </p:nvSpPr>
        <p:spPr>
          <a:xfrm>
            <a:off x="914400" y="22860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MVP Rápido: Validação em 3-5 Dias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3"/>
          <p:cNvSpPr/>
          <p:nvPr/>
        </p:nvSpPr>
        <p:spPr>
          <a:xfrm>
            <a:off x="365760" y="731520"/>
            <a:ext cx="8412480" cy="360"/>
          </a:xfrm>
          <a:prstGeom prst="line">
            <a:avLst/>
          </a:prstGeom>
          <a:ln w="12700">
            <a:solidFill>
              <a:srgbClr val="00ff4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 4"/>
          <p:cNvSpPr/>
          <p:nvPr/>
        </p:nvSpPr>
        <p:spPr>
          <a:xfrm>
            <a:off x="457200" y="8229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Antes de investir, experimentar — Pesquisa I2AI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5"/>
          <p:cNvSpPr/>
          <p:nvPr/>
        </p:nvSpPr>
        <p:spPr>
          <a:xfrm>
            <a:off x="365760" y="1234440"/>
            <a:ext cx="2742840" cy="3291480"/>
          </a:xfrm>
          <a:prstGeom prst="rect">
            <a:avLst/>
          </a:prstGeom>
          <a:solidFill>
            <a:srgbClr val="111b11"/>
          </a:solidFill>
          <a:ln w="12700">
            <a:solidFill>
              <a:srgbClr val="00ff41"/>
            </a:solidFill>
            <a:round/>
          </a:ln>
          <a:effectLst>
            <a:outerShdw algn="bl" blurRad="76320" dir="8100000" dist="25455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0" name="Shape 6"/>
          <p:cNvSpPr/>
          <p:nvPr/>
        </p:nvSpPr>
        <p:spPr>
          <a:xfrm>
            <a:off x="1417320" y="1371600"/>
            <a:ext cx="594360" cy="594360"/>
          </a:xfrm>
          <a:prstGeom prst="line">
            <a:avLst/>
          </a:prstGeom>
          <a:ln w="1270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 8"/>
          <p:cNvSpPr/>
          <p:nvPr/>
        </p:nvSpPr>
        <p:spPr>
          <a:xfrm>
            <a:off x="502920" y="205740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Setup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9"/>
          <p:cNvSpPr/>
          <p:nvPr/>
        </p:nvSpPr>
        <p:spPr>
          <a:xfrm>
            <a:off x="1005840" y="2468880"/>
            <a:ext cx="1462680" cy="273960"/>
          </a:xfrm>
          <a:prstGeom prst="rect">
            <a:avLst/>
          </a:prstGeom>
          <a:solidFill>
            <a:srgbClr val="003b00"/>
          </a:solidFill>
          <a:ln w="635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 10"/>
          <p:cNvSpPr/>
          <p:nvPr/>
        </p:nvSpPr>
        <p:spPr>
          <a:xfrm>
            <a:off x="1005840" y="246888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Coleta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1"/>
          <p:cNvSpPr/>
          <p:nvPr/>
        </p:nvSpPr>
        <p:spPr>
          <a:xfrm>
            <a:off x="502920" y="2880360"/>
            <a:ext cx="2468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00cc33"/>
                </a:solidFill>
                <a:effectLst/>
                <a:uFillTx/>
                <a:latin typeface="Calibri"/>
                <a:ea typeface="Calibri"/>
              </a:rPr>
              <a:t>Dor resolvida: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2"/>
          <p:cNvSpPr/>
          <p:nvPr/>
        </p:nvSpPr>
        <p:spPr>
          <a:xfrm>
            <a:off x="502920" y="306324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50-100 produtos do Santri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3"/>
          <p:cNvSpPr/>
          <p:nvPr/>
        </p:nvSpPr>
        <p:spPr>
          <a:xfrm>
            <a:off x="502920" y="3566160"/>
            <a:ext cx="2468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Selecionar subset representativo. Fichas técnicas, preços, estoque. Carregar em NotebookLM ou Claude Cowork.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4"/>
          <p:cNvSpPr/>
          <p:nvPr/>
        </p:nvSpPr>
        <p:spPr>
          <a:xfrm>
            <a:off x="3246120" y="1234440"/>
            <a:ext cx="2742840" cy="329148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round/>
          </a:ln>
          <a:effectLst>
            <a:outerShdw algn="bl" blurRad="76320" dir="8100000" dist="25455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8" name="Shape 15"/>
          <p:cNvSpPr/>
          <p:nvPr/>
        </p:nvSpPr>
        <p:spPr>
          <a:xfrm>
            <a:off x="4297680" y="1371600"/>
            <a:ext cx="594360" cy="594360"/>
          </a:xfrm>
          <a:prstGeom prst="line">
            <a:avLst/>
          </a:prstGeom>
          <a:ln w="1270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 16"/>
          <p:cNvSpPr/>
          <p:nvPr/>
        </p:nvSpPr>
        <p:spPr>
          <a:xfrm>
            <a:off x="4297680" y="137160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DIAS 2-3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7"/>
          <p:cNvSpPr/>
          <p:nvPr/>
        </p:nvSpPr>
        <p:spPr>
          <a:xfrm>
            <a:off x="3383280" y="205740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Treinamento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8"/>
          <p:cNvSpPr/>
          <p:nvPr/>
        </p:nvSpPr>
        <p:spPr>
          <a:xfrm>
            <a:off x="3886200" y="2468880"/>
            <a:ext cx="1462680" cy="273960"/>
          </a:xfrm>
          <a:prstGeom prst="rect">
            <a:avLst/>
          </a:prstGeom>
          <a:solidFill>
            <a:srgbClr val="003b00"/>
          </a:solidFill>
          <a:ln w="635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 19"/>
          <p:cNvSpPr/>
          <p:nvPr/>
        </p:nvSpPr>
        <p:spPr>
          <a:xfrm>
            <a:off x="3886200" y="246888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Config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0"/>
          <p:cNvSpPr/>
          <p:nvPr/>
        </p:nvSpPr>
        <p:spPr>
          <a:xfrm>
            <a:off x="3383280" y="2880360"/>
            <a:ext cx="2468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00cc33"/>
                </a:solidFill>
                <a:effectLst/>
                <a:uFillTx/>
                <a:latin typeface="Calibri"/>
                <a:ea typeface="Calibri"/>
              </a:rPr>
              <a:t>Dor resolvida: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1"/>
          <p:cNvSpPr/>
          <p:nvPr/>
        </p:nvSpPr>
        <p:spPr>
          <a:xfrm>
            <a:off x="3383280" y="306324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Perguntas e respostas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2"/>
          <p:cNvSpPr/>
          <p:nvPr/>
        </p:nvSpPr>
        <p:spPr>
          <a:xfrm>
            <a:off x="3383280" y="3566160"/>
            <a:ext cx="2468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Configurar assistente com instruções Construfic. Testar cenários reais de vendedores. Ajustar linguagem.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23"/>
          <p:cNvSpPr/>
          <p:nvPr/>
        </p:nvSpPr>
        <p:spPr>
          <a:xfrm>
            <a:off x="6126480" y="1234440"/>
            <a:ext cx="2742840" cy="329148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round/>
          </a:ln>
          <a:effectLst>
            <a:outerShdw algn="bl" blurRad="76320" dir="8100000" dist="25455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" name="Shape 24"/>
          <p:cNvSpPr/>
          <p:nvPr/>
        </p:nvSpPr>
        <p:spPr>
          <a:xfrm>
            <a:off x="7178040" y="1371600"/>
            <a:ext cx="594360" cy="594360"/>
          </a:xfrm>
          <a:prstGeom prst="line">
            <a:avLst/>
          </a:prstGeom>
          <a:ln w="1270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Text 25"/>
          <p:cNvSpPr/>
          <p:nvPr/>
        </p:nvSpPr>
        <p:spPr>
          <a:xfrm>
            <a:off x="7178040" y="137160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DIAS 4-5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6"/>
          <p:cNvSpPr/>
          <p:nvPr/>
        </p:nvSpPr>
        <p:spPr>
          <a:xfrm>
            <a:off x="6263640" y="205740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Demo ao CEO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27"/>
          <p:cNvSpPr/>
          <p:nvPr/>
        </p:nvSpPr>
        <p:spPr>
          <a:xfrm>
            <a:off x="6766560" y="2468880"/>
            <a:ext cx="1462680" cy="273960"/>
          </a:xfrm>
          <a:prstGeom prst="rect">
            <a:avLst/>
          </a:prstGeom>
          <a:solidFill>
            <a:srgbClr val="003b00"/>
          </a:solidFill>
          <a:ln w="635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 28"/>
          <p:cNvSpPr/>
          <p:nvPr/>
        </p:nvSpPr>
        <p:spPr>
          <a:xfrm>
            <a:off x="6766560" y="246888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Validação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9"/>
          <p:cNvSpPr/>
          <p:nvPr/>
        </p:nvSpPr>
        <p:spPr>
          <a:xfrm>
            <a:off x="6263640" y="2880360"/>
            <a:ext cx="2468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00cc33"/>
                </a:solidFill>
                <a:effectLst/>
                <a:uFillTx/>
                <a:latin typeface="Calibri"/>
                <a:ea typeface="Calibri"/>
              </a:rPr>
              <a:t>Dor resolvida: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30"/>
          <p:cNvSpPr/>
          <p:nvPr/>
        </p:nvSpPr>
        <p:spPr>
          <a:xfrm>
            <a:off x="6263640" y="306324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CEO testa pessoalmente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1"/>
          <p:cNvSpPr/>
          <p:nvPr/>
        </p:nvSpPr>
        <p:spPr>
          <a:xfrm>
            <a:off x="6263640" y="3566160"/>
            <a:ext cx="2468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Apresentação ao vivo. Feedback para calibrar POC. Investimento passa de abstrato para concreto.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32"/>
          <p:cNvSpPr/>
          <p:nvPr/>
        </p:nvSpPr>
        <p:spPr>
          <a:xfrm>
            <a:off x="457200" y="470916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Construfic Materiais de Construção — Plano de Mentoria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33"/>
          <p:cNvSpPr/>
          <p:nvPr/>
        </p:nvSpPr>
        <p:spPr>
          <a:xfrm>
            <a:off x="7772400" y="47091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6 / 20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6"/>
          <p:cNvSpPr/>
          <p:nvPr/>
        </p:nvSpPr>
        <p:spPr>
          <a:xfrm>
            <a:off x="1371600" y="134892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0ff41"/>
                </a:solidFill>
                <a:effectLst/>
                <a:uFillTx/>
                <a:latin typeface="Consolas"/>
              </a:rPr>
              <a:t>1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00000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itle"/>
          <p:cNvSpPr/>
          <p:nvPr/>
        </p:nvSpPr>
        <p:spPr>
          <a:xfrm>
            <a:off x="365760" y="228600"/>
            <a:ext cx="8412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MVP Rápido: Validação em 3-5 Dias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ubtitle"/>
          <p:cNvSpPr/>
          <p:nvPr/>
        </p:nvSpPr>
        <p:spPr>
          <a:xfrm>
            <a:off x="365760" y="91440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Antes de investir, experimentar — Pesquisa I2AI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Column 1 Box"/>
          <p:cNvSpPr/>
          <p:nvPr/>
        </p:nvSpPr>
        <p:spPr>
          <a:xfrm>
            <a:off x="457200" y="1371600"/>
            <a:ext cx="2599920" cy="2742840"/>
          </a:xfrm>
          <a:prstGeom prst="rect">
            <a:avLst/>
          </a:prstGeom>
          <a:solidFill>
            <a:srgbClr val="111b11"/>
          </a:solidFill>
          <a:ln w="1270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2" name="Column 1 Number"/>
          <p:cNvSpPr/>
          <p:nvPr/>
        </p:nvSpPr>
        <p:spPr>
          <a:xfrm>
            <a:off x="457200" y="1371600"/>
            <a:ext cx="2599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DIA 1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Column 1 Title"/>
          <p:cNvSpPr/>
          <p:nvPr/>
        </p:nvSpPr>
        <p:spPr>
          <a:xfrm>
            <a:off x="548640" y="1828800"/>
            <a:ext cx="241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Setup e Coleta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Column 1 Content"/>
          <p:cNvSpPr/>
          <p:nvPr/>
        </p:nvSpPr>
        <p:spPr>
          <a:xfrm>
            <a:off x="548640" y="2194560"/>
            <a:ext cx="24170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0ff41"/>
                </a:solidFill>
                <a:effectLst/>
                <a:uFillTx/>
                <a:latin typeface="Calibri"/>
                <a:ea typeface="Calibri"/>
              </a:rPr>
              <a:t>Atividades: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b0b0b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Coleta de dados do Santri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b0b0b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Setup da infraestrutura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0ff41"/>
                </a:solidFill>
                <a:effectLst/>
                <a:uFillTx/>
                <a:latin typeface="Calibri"/>
                <a:ea typeface="Calibri"/>
              </a:rPr>
              <a:t>Dor resolvida: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b0b0b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Visibilidade inicial dos dados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Column 2 Box"/>
          <p:cNvSpPr/>
          <p:nvPr/>
        </p:nvSpPr>
        <p:spPr>
          <a:xfrm>
            <a:off x="3271320" y="1371600"/>
            <a:ext cx="2599920" cy="2742840"/>
          </a:xfrm>
          <a:prstGeom prst="rect">
            <a:avLst/>
          </a:prstGeom>
          <a:solidFill>
            <a:srgbClr val="111b11"/>
          </a:solidFill>
          <a:ln w="1270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6" name="Column 2 Number"/>
          <p:cNvSpPr/>
          <p:nvPr/>
        </p:nvSpPr>
        <p:spPr>
          <a:xfrm>
            <a:off x="3271320" y="1371600"/>
            <a:ext cx="2599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DIAS 2-3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Column 2 Title"/>
          <p:cNvSpPr/>
          <p:nvPr/>
        </p:nvSpPr>
        <p:spPr>
          <a:xfrm>
            <a:off x="3362760" y="1828800"/>
            <a:ext cx="241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Treinamento e Config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Column 2 Content"/>
          <p:cNvSpPr/>
          <p:nvPr/>
        </p:nvSpPr>
        <p:spPr>
          <a:xfrm>
            <a:off x="3362760" y="2194560"/>
            <a:ext cx="24170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0ff41"/>
                </a:solidFill>
                <a:effectLst/>
                <a:uFillTx/>
                <a:latin typeface="Calibri"/>
                <a:ea typeface="Calibri"/>
              </a:rPr>
              <a:t>Atividades: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b0b0b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Configuração do chatbot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b0b0b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Treinamento da equipe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0ff41"/>
                </a:solidFill>
                <a:effectLst/>
                <a:uFillTx/>
                <a:latin typeface="Calibri"/>
                <a:ea typeface="Calibri"/>
              </a:rPr>
              <a:t>Dor resolvida: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b0b0b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Prontidão operacional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Column 3 Box"/>
          <p:cNvSpPr/>
          <p:nvPr/>
        </p:nvSpPr>
        <p:spPr>
          <a:xfrm>
            <a:off x="6085800" y="1371600"/>
            <a:ext cx="2599920" cy="2742840"/>
          </a:xfrm>
          <a:prstGeom prst="rect">
            <a:avLst/>
          </a:prstGeom>
          <a:solidFill>
            <a:srgbClr val="111b11"/>
          </a:solidFill>
          <a:ln w="1270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0" name="Column 3 Number"/>
          <p:cNvSpPr/>
          <p:nvPr/>
        </p:nvSpPr>
        <p:spPr>
          <a:xfrm>
            <a:off x="6085800" y="1371600"/>
            <a:ext cx="2599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DIAS 4-5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Column 3 Title"/>
          <p:cNvSpPr/>
          <p:nvPr/>
        </p:nvSpPr>
        <p:spPr>
          <a:xfrm>
            <a:off x="6177240" y="1828800"/>
            <a:ext cx="241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Demo ao CEO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Column 3 Content"/>
          <p:cNvSpPr/>
          <p:nvPr/>
        </p:nvSpPr>
        <p:spPr>
          <a:xfrm>
            <a:off x="6177240" y="2194560"/>
            <a:ext cx="24170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0ff41"/>
                </a:solidFill>
                <a:effectLst/>
                <a:uFillTx/>
                <a:latin typeface="Calibri"/>
                <a:ea typeface="Calibri"/>
              </a:rPr>
              <a:t>Atividades: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b0b0b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Demo ao vivo com CEO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b0b0b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Coleta de feedback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0ff41"/>
                </a:solidFill>
                <a:effectLst/>
                <a:uFillTx/>
                <a:latin typeface="Calibri"/>
                <a:ea typeface="Calibri"/>
              </a:rPr>
              <a:t>Validação: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b0b0b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Decisão GO/NO-GO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Footer"/>
          <p:cNvSpPr/>
          <p:nvPr/>
        </p:nvSpPr>
        <p:spPr>
          <a:xfrm>
            <a:off x="457200" y="470916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Construfic Materiais de Construção — Plano de Mentoria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Page Number"/>
          <p:cNvSpPr/>
          <p:nvPr/>
        </p:nvSpPr>
        <p:spPr>
          <a:xfrm>
            <a:off x="7772400" y="47091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6 / 20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00000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" name="Title"/>
          <p:cNvSpPr/>
          <p:nvPr/>
        </p:nvSpPr>
        <p:spPr>
          <a:xfrm>
            <a:off x="365760" y="228600"/>
            <a:ext cx="8412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VISITAS DE BENCHMARKING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Subtitle"/>
          <p:cNvSpPr/>
          <p:nvPr/>
        </p:nvSpPr>
        <p:spPr>
          <a:xfrm>
            <a:off x="365760" y="91440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Aprender com quem já fez antes de construir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Content Box"/>
          <p:cNvSpPr/>
          <p:nvPr/>
        </p:nvSpPr>
        <p:spPr>
          <a:xfrm>
            <a:off x="365760" y="1371600"/>
            <a:ext cx="841212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ff41"/>
                </a:solidFill>
                <a:effectLst/>
                <a:uFillTx/>
                <a:latin typeface="Calibri"/>
                <a:ea typeface="Calibri"/>
              </a:rPr>
              <a:t>1. UNICAMP — RetailGPT (Campinas/SP | ~250km, ~3h | R$ 350)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b0b0b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0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Único projeto acadêmico de RAG para varejo no Brasil. Aprender sobre chunking, embeddings, prompt engineering.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ff41"/>
                </a:solidFill>
                <a:effectLst/>
                <a:uFillTx/>
                <a:latin typeface="Calibri"/>
                <a:ea typeface="Calibri"/>
              </a:rPr>
              <a:t>2. LEROY MERLIN — LM Tech (São Paulo/SP | ~300km, ~3.5h | R$ 380-480)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b0b0b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0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Mesmo segmento (materiais de construção). Concierge de Vendas com IA: +25% conversão. Lições sobre adoção operacional e cross-sell/up-sell.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ff41"/>
                </a:solidFill>
                <a:effectLst/>
                <a:uFillTx/>
                <a:latin typeface="Calibri"/>
                <a:ea typeface="Calibri"/>
              </a:rPr>
              <a:t>3. MAGAZINE LUIZA — Luizalabs (Franca/SP | ~350km, ~4h | R$ 400-470)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b0b0b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0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Maior caso brasileiro de IA no varejo. Lu com cérebro de IA + Vertex AI. ~25M interações/ano no WhatsApp.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</a:t>
            </a:r>
            <a:endParaRPr b="0" lang="en-US" sz="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0ff41"/>
                </a:solidFill>
                <a:effectLst/>
                <a:uFillTx/>
                <a:latin typeface="Calibri"/>
                <a:ea typeface="Calibri"/>
              </a:rPr>
              <a:t>Custo total: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b0b0b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0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R$ 1.130 a R$ 1.300 (inferior a 3% do investimento anual)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Footer"/>
          <p:cNvSpPr/>
          <p:nvPr/>
        </p:nvSpPr>
        <p:spPr>
          <a:xfrm>
            <a:off x="457200" y="470916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Construfic Materiais de Construção — Plano de Mentoria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Page Number"/>
          <p:cNvSpPr/>
          <p:nvPr/>
        </p:nvSpPr>
        <p:spPr>
          <a:xfrm>
            <a:off x="7772400" y="47091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7 / 20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00000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 1"/>
          <p:cNvSpPr/>
          <p:nvPr/>
        </p:nvSpPr>
        <p:spPr>
          <a:xfrm>
            <a:off x="365760" y="22860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07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2"/>
          <p:cNvSpPr/>
          <p:nvPr/>
        </p:nvSpPr>
        <p:spPr>
          <a:xfrm>
            <a:off x="914400" y="22860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Fase 1 — Mês 2: Dashboard Quick Win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3"/>
          <p:cNvSpPr/>
          <p:nvPr/>
        </p:nvSpPr>
        <p:spPr>
          <a:xfrm>
            <a:off x="365760" y="731520"/>
            <a:ext cx="8412480" cy="360"/>
          </a:xfrm>
          <a:prstGeom prst="line">
            <a:avLst/>
          </a:prstGeom>
          <a:ln w="12700">
            <a:solidFill>
              <a:srgbClr val="00ff4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 4"/>
          <p:cNvSpPr/>
          <p:nvPr/>
        </p:nvSpPr>
        <p:spPr>
          <a:xfrm>
            <a:off x="457200" y="8229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Semanas 5-8  |  A primeira entrega tangível — foco em estoque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5"/>
          <p:cNvSpPr/>
          <p:nvPr/>
        </p:nvSpPr>
        <p:spPr>
          <a:xfrm>
            <a:off x="365760" y="1234440"/>
            <a:ext cx="2011320" cy="246852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round/>
          </a:ln>
          <a:effectLst>
            <a:outerShdw algn="bl" blurRad="76320" dir="8100000" dist="25455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7" name="Shape 6"/>
          <p:cNvSpPr/>
          <p:nvPr/>
        </p:nvSpPr>
        <p:spPr>
          <a:xfrm>
            <a:off x="365760" y="1234440"/>
            <a:ext cx="2011320" cy="319680"/>
          </a:xfrm>
          <a:prstGeom prst="rect">
            <a:avLst/>
          </a:prstGeom>
          <a:solidFill>
            <a:srgbClr val="003b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 7"/>
          <p:cNvSpPr/>
          <p:nvPr/>
        </p:nvSpPr>
        <p:spPr>
          <a:xfrm>
            <a:off x="365760" y="123444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S5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8"/>
          <p:cNvSpPr/>
          <p:nvPr/>
        </p:nvSpPr>
        <p:spPr>
          <a:xfrm>
            <a:off x="868680" y="123444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Infraestrutura de Dados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9"/>
          <p:cNvSpPr/>
          <p:nvPr/>
        </p:nvSpPr>
        <p:spPr>
          <a:xfrm>
            <a:off x="457200" y="1645920"/>
            <a:ext cx="182844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Setup do Data Lake (S3) + pipeline ETL do Santri via API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pre-autorizada. Camadas raw / processed / curated.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0"/>
          <p:cNvSpPr/>
          <p:nvPr/>
        </p:nvSpPr>
        <p:spPr>
          <a:xfrm>
            <a:off x="2514600" y="1234440"/>
            <a:ext cx="2011320" cy="246852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round/>
          </a:ln>
          <a:effectLst>
            <a:outerShdw algn="bl" blurRad="76320" dir="8100000" dist="25455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2" name="Shape 11"/>
          <p:cNvSpPr/>
          <p:nvPr/>
        </p:nvSpPr>
        <p:spPr>
          <a:xfrm>
            <a:off x="2514600" y="1234440"/>
            <a:ext cx="2011320" cy="319680"/>
          </a:xfrm>
          <a:prstGeom prst="rect">
            <a:avLst/>
          </a:prstGeom>
          <a:solidFill>
            <a:srgbClr val="003b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3" name="Text 12"/>
          <p:cNvSpPr/>
          <p:nvPr/>
        </p:nvSpPr>
        <p:spPr>
          <a:xfrm>
            <a:off x="2514600" y="123444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S6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3"/>
          <p:cNvSpPr/>
          <p:nvPr/>
        </p:nvSpPr>
        <p:spPr>
          <a:xfrm>
            <a:off x="3017520" y="123444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3a Visita: Magazine Luiza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4"/>
          <p:cNvSpPr/>
          <p:nvPr/>
        </p:nvSpPr>
        <p:spPr>
          <a:xfrm>
            <a:off x="2606040" y="1645920"/>
            <a:ext cx="182844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Visita ao Luizalabs em Franca. WhatsApp + IA em escala,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custos, simplificação para PME.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15"/>
          <p:cNvSpPr/>
          <p:nvPr/>
        </p:nvSpPr>
        <p:spPr>
          <a:xfrm>
            <a:off x="4663440" y="1234440"/>
            <a:ext cx="2011320" cy="2468520"/>
          </a:xfrm>
          <a:prstGeom prst="rect">
            <a:avLst/>
          </a:prstGeom>
          <a:solidFill>
            <a:srgbClr val="0d1f0d"/>
          </a:solidFill>
          <a:ln w="12700">
            <a:solidFill>
              <a:srgbClr val="00ff41"/>
            </a:solidFill>
            <a:round/>
          </a:ln>
          <a:effectLst>
            <a:outerShdw algn="bl" blurRad="76320" dir="8100000" dist="25455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7" name="Shape 16"/>
          <p:cNvSpPr/>
          <p:nvPr/>
        </p:nvSpPr>
        <p:spPr>
          <a:xfrm>
            <a:off x="4663440" y="1234440"/>
            <a:ext cx="2011320" cy="319680"/>
          </a:xfrm>
          <a:prstGeom prst="rect">
            <a:avLst/>
          </a:prstGeom>
          <a:solidFill>
            <a:srgbClr val="00ff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8" name="Text 17"/>
          <p:cNvSpPr/>
          <p:nvPr/>
        </p:nvSpPr>
        <p:spPr>
          <a:xfrm>
            <a:off x="4663440" y="123444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a0a0a"/>
                </a:solidFill>
                <a:effectLst/>
                <a:uFillTx/>
                <a:latin typeface="Consolas"/>
                <a:ea typeface="Consolas"/>
              </a:rPr>
              <a:t>S7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8"/>
          <p:cNvSpPr/>
          <p:nvPr/>
        </p:nvSpPr>
        <p:spPr>
          <a:xfrm>
            <a:off x="5166360" y="123444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a0a0a"/>
                </a:solidFill>
                <a:effectLst/>
                <a:uFillTx/>
                <a:latin typeface="Consolas"/>
                <a:ea typeface="Consolas"/>
              </a:rPr>
              <a:t>DASHBOARD + Chatbot v1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9"/>
          <p:cNvSpPr/>
          <p:nvPr/>
        </p:nvSpPr>
        <p:spPr>
          <a:xfrm>
            <a:off x="4754880" y="1645920"/>
            <a:ext cx="182844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ENTREGA DO DASHBOARD ao CEO. Prioridade #1: controle de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estoque (fisico vs. sistema). + RAG v1 com LangChain.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20"/>
          <p:cNvSpPr/>
          <p:nvPr/>
        </p:nvSpPr>
        <p:spPr>
          <a:xfrm>
            <a:off x="6812280" y="1234440"/>
            <a:ext cx="2011320" cy="246852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round/>
          </a:ln>
          <a:effectLst>
            <a:outerShdw algn="bl" blurRad="76320" dir="8100000" dist="25455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2" name="Shape 21"/>
          <p:cNvSpPr/>
          <p:nvPr/>
        </p:nvSpPr>
        <p:spPr>
          <a:xfrm>
            <a:off x="6812280" y="1234440"/>
            <a:ext cx="2011320" cy="319680"/>
          </a:xfrm>
          <a:prstGeom prst="rect">
            <a:avLst/>
          </a:prstGeom>
          <a:solidFill>
            <a:srgbClr val="003b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 22"/>
          <p:cNvSpPr/>
          <p:nvPr/>
        </p:nvSpPr>
        <p:spPr>
          <a:xfrm>
            <a:off x="6812280" y="123444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S8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23"/>
          <p:cNvSpPr/>
          <p:nvPr/>
        </p:nvSpPr>
        <p:spPr>
          <a:xfrm>
            <a:off x="7315200" y="123444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Testes com Usuarios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24"/>
          <p:cNvSpPr/>
          <p:nvPr/>
        </p:nvSpPr>
        <p:spPr>
          <a:xfrm>
            <a:off x="6903720" y="1645920"/>
            <a:ext cx="182844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Vendedores testam chatbot com produtos reais. WhatsApp com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transcrição de audio. Coleta de feedback.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25"/>
          <p:cNvSpPr/>
          <p:nvPr/>
        </p:nvSpPr>
        <p:spPr>
          <a:xfrm>
            <a:off x="365760" y="3840480"/>
            <a:ext cx="8412120" cy="502560"/>
          </a:xfrm>
          <a:prstGeom prst="rect">
            <a:avLst/>
          </a:prstGeom>
          <a:solidFill>
            <a:srgbClr val="0d1f0d"/>
          </a:solidFill>
          <a:ln w="635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 26"/>
          <p:cNvSpPr/>
          <p:nvPr/>
        </p:nvSpPr>
        <p:spPr>
          <a:xfrm>
            <a:off x="548640" y="3840480"/>
            <a:ext cx="8046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0ff41"/>
                </a:solidFill>
                <a:effectLst/>
                <a:uFillTx/>
                <a:latin typeface="Calibri"/>
                <a:ea typeface="Calibri"/>
              </a:rPr>
              <a:t>Entregaveis: </a:t>
            </a: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Dashboard Metabase | Relatório 3a visita | Chatbot v1 | Data Lake operacional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7"/>
          <p:cNvSpPr/>
          <p:nvPr/>
        </p:nvSpPr>
        <p:spPr>
          <a:xfrm>
            <a:off x="457200" y="470916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Construfic Materiais de Construção — Plano de Mentoria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8"/>
          <p:cNvSpPr/>
          <p:nvPr/>
        </p:nvSpPr>
        <p:spPr>
          <a:xfrm>
            <a:off x="7772400" y="47091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14 / 20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00000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1" name="Text 1"/>
          <p:cNvSpPr/>
          <p:nvPr/>
        </p:nvSpPr>
        <p:spPr>
          <a:xfrm>
            <a:off x="365760" y="22860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09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"/>
          <p:cNvSpPr/>
          <p:nvPr/>
        </p:nvSpPr>
        <p:spPr>
          <a:xfrm>
            <a:off x="914400" y="22860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Go/No-Go: A Decisão E Sua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3"/>
          <p:cNvSpPr/>
          <p:nvPr/>
        </p:nvSpPr>
        <p:spPr>
          <a:xfrm>
            <a:off x="365760" y="731520"/>
            <a:ext cx="8412480" cy="360"/>
          </a:xfrm>
          <a:prstGeom prst="line">
            <a:avLst/>
          </a:prstGeom>
          <a:ln w="12700">
            <a:solidFill>
              <a:srgbClr val="00ff4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4" name="Text 4"/>
          <p:cNvSpPr/>
          <p:nvPr/>
        </p:nvSpPr>
        <p:spPr>
          <a:xfrm>
            <a:off x="457200" y="8229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Reunião formal de 4 horas — Semana 12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5"/>
          <p:cNvSpPr/>
          <p:nvPr/>
        </p:nvSpPr>
        <p:spPr>
          <a:xfrm>
            <a:off x="365760" y="1234440"/>
            <a:ext cx="2742840" cy="3017160"/>
          </a:xfrm>
          <a:prstGeom prst="rect">
            <a:avLst/>
          </a:prstGeom>
          <a:solidFill>
            <a:srgbClr val="0d2b0d"/>
          </a:solidFill>
          <a:ln w="12700">
            <a:solidFill>
              <a:srgbClr val="00ff41"/>
            </a:solidFill>
            <a:round/>
          </a:ln>
          <a:effectLst>
            <a:outerShdw algn="bl" blurRad="76320" dir="8100000" dist="25455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6" name="Text 6"/>
          <p:cNvSpPr/>
          <p:nvPr/>
        </p:nvSpPr>
        <p:spPr>
          <a:xfrm>
            <a:off x="365760" y="132588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GO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7"/>
          <p:cNvSpPr/>
          <p:nvPr/>
        </p:nvSpPr>
        <p:spPr>
          <a:xfrm>
            <a:off x="640080" y="1874520"/>
            <a:ext cx="2194560" cy="360"/>
          </a:xfrm>
          <a:prstGeom prst="line">
            <a:avLst/>
          </a:prstGeom>
          <a:ln w="6350">
            <a:solidFill>
              <a:srgbClr val="00ff4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8" name="Text 8"/>
          <p:cNvSpPr/>
          <p:nvPr/>
        </p:nvSpPr>
        <p:spPr>
          <a:xfrm>
            <a:off x="502920" y="1965960"/>
            <a:ext cx="24685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Todos os critérios verdes.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Métricas positivas. Equipe engajada.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CEO ve valor claro.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9"/>
          <p:cNvSpPr/>
          <p:nvPr/>
        </p:nvSpPr>
        <p:spPr>
          <a:xfrm>
            <a:off x="502920" y="3108960"/>
            <a:ext cx="24685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0ff41"/>
                </a:solidFill>
                <a:effectLst/>
                <a:uFillTx/>
                <a:latin typeface="Calibri"/>
                <a:ea typeface="Calibri"/>
              </a:rPr>
              <a:t>Ação: Iniciar Fase 2 — Produção.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0ff41"/>
                </a:solidFill>
                <a:effectLst/>
                <a:uFillTx/>
                <a:latin typeface="Calibri"/>
                <a:ea typeface="Calibri"/>
              </a:rPr>
              <a:t>Contratar fornecedor de implementação.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10"/>
          <p:cNvSpPr/>
          <p:nvPr/>
        </p:nvSpPr>
        <p:spPr>
          <a:xfrm>
            <a:off x="3246120" y="1234440"/>
            <a:ext cx="2742840" cy="3017160"/>
          </a:xfrm>
          <a:prstGeom prst="rect">
            <a:avLst/>
          </a:prstGeom>
          <a:solidFill>
            <a:srgbClr val="2b2b0d"/>
          </a:solidFill>
          <a:ln w="12700">
            <a:solidFill>
              <a:srgbClr val="ffd700"/>
            </a:solidFill>
            <a:round/>
          </a:ln>
          <a:effectLst>
            <a:outerShdw algn="bl" blurRad="76320" dir="8100000" dist="25455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1" name="Text 11"/>
          <p:cNvSpPr/>
          <p:nvPr/>
        </p:nvSpPr>
        <p:spPr>
          <a:xfrm>
            <a:off x="3246120" y="132588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d700"/>
                </a:solidFill>
                <a:effectLst/>
                <a:uFillTx/>
                <a:latin typeface="Consolas"/>
                <a:ea typeface="Consolas"/>
              </a:rPr>
              <a:t>PIVOT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12"/>
          <p:cNvSpPr/>
          <p:nvPr/>
        </p:nvSpPr>
        <p:spPr>
          <a:xfrm>
            <a:off x="3520440" y="1874520"/>
            <a:ext cx="2194560" cy="360"/>
          </a:xfrm>
          <a:prstGeom prst="line">
            <a:avLst/>
          </a:prstGeom>
          <a:ln w="6350">
            <a:solidFill>
              <a:srgbClr val="ffd7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3" name="Text 13"/>
          <p:cNvSpPr/>
          <p:nvPr/>
        </p:nvSpPr>
        <p:spPr>
          <a:xfrm>
            <a:off x="3383280" y="1965960"/>
            <a:ext cx="24685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Métricas mistas. Potencial,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mas ajustes necessarios.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Estender POC 4-6 semanas.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4"/>
          <p:cNvSpPr/>
          <p:nvPr/>
        </p:nvSpPr>
        <p:spPr>
          <a:xfrm>
            <a:off x="3383280" y="3108960"/>
            <a:ext cx="24685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ffd700"/>
                </a:solidFill>
                <a:effectLst/>
                <a:uFillTx/>
                <a:latin typeface="Calibri"/>
                <a:ea typeface="Calibri"/>
              </a:rPr>
              <a:t>Ação: Reduzir escopo, trocar tech,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ffd700"/>
                </a:solidFill>
                <a:effectLst/>
                <a:uFillTx/>
                <a:latin typeface="Calibri"/>
                <a:ea typeface="Calibri"/>
              </a:rPr>
              <a:t>simplificar. Retestar antes de avancar.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15"/>
          <p:cNvSpPr/>
          <p:nvPr/>
        </p:nvSpPr>
        <p:spPr>
          <a:xfrm>
            <a:off x="6126480" y="1234440"/>
            <a:ext cx="2742840" cy="3017160"/>
          </a:xfrm>
          <a:prstGeom prst="rect">
            <a:avLst/>
          </a:prstGeom>
          <a:solidFill>
            <a:srgbClr val="2b0d0d"/>
          </a:solidFill>
          <a:ln w="12700">
            <a:solidFill>
              <a:srgbClr val="ff4444"/>
            </a:solidFill>
            <a:round/>
          </a:ln>
          <a:effectLst>
            <a:outerShdw algn="bl" blurRad="76320" dir="8100000" dist="25455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6" name="Text 16"/>
          <p:cNvSpPr/>
          <p:nvPr/>
        </p:nvSpPr>
        <p:spPr>
          <a:xfrm>
            <a:off x="6126480" y="132588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4444"/>
                </a:solidFill>
                <a:effectLst/>
                <a:uFillTx/>
                <a:latin typeface="Consolas"/>
                <a:ea typeface="Consolas"/>
              </a:rPr>
              <a:t>STOP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17"/>
          <p:cNvSpPr/>
          <p:nvPr/>
        </p:nvSpPr>
        <p:spPr>
          <a:xfrm>
            <a:off x="6400800" y="1874520"/>
            <a:ext cx="2194560" cy="360"/>
          </a:xfrm>
          <a:prstGeom prst="line">
            <a:avLst/>
          </a:prstGeom>
          <a:ln w="6350">
            <a:solidFill>
              <a:srgbClr val="ff4444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8" name="Text 18"/>
          <p:cNvSpPr/>
          <p:nvPr/>
        </p:nvSpPr>
        <p:spPr>
          <a:xfrm>
            <a:off x="6263640" y="1965960"/>
            <a:ext cx="24685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Métricas abaixo do aceitavel.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Mas o investimento NAO e perdido.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9"/>
          <p:cNvSpPr/>
          <p:nvPr/>
        </p:nvSpPr>
        <p:spPr>
          <a:xfrm>
            <a:off x="6263640" y="3108960"/>
            <a:ext cx="24685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ff4444"/>
                </a:solidFill>
                <a:effectLst/>
                <a:uFillTx/>
                <a:latin typeface="Calibri"/>
                <a:ea typeface="Calibri"/>
              </a:rPr>
              <a:t>Voce fica com: dados organizados,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ff4444"/>
                </a:solidFill>
                <a:effectLst/>
                <a:uFillTx/>
                <a:latin typeface="Calibri"/>
                <a:ea typeface="Calibri"/>
              </a:rPr>
              <a:t>dashboard BI, documentação, relatórios.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0"/>
          <p:cNvSpPr/>
          <p:nvPr/>
        </p:nvSpPr>
        <p:spPr>
          <a:xfrm>
            <a:off x="457200" y="470916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Construfic Materiais de Construção — Plano de Mentoria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21"/>
          <p:cNvSpPr/>
          <p:nvPr/>
        </p:nvSpPr>
        <p:spPr>
          <a:xfrm>
            <a:off x="7772400" y="47091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16 / 20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00000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3" name="Text 1"/>
          <p:cNvSpPr/>
          <p:nvPr/>
        </p:nvSpPr>
        <p:spPr>
          <a:xfrm>
            <a:off x="365760" y="22860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10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2"/>
          <p:cNvSpPr/>
          <p:nvPr/>
        </p:nvSpPr>
        <p:spPr>
          <a:xfrm>
            <a:off x="914400" y="22860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Critérios Quantitativos do Go/No-Go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3"/>
          <p:cNvSpPr/>
          <p:nvPr/>
        </p:nvSpPr>
        <p:spPr>
          <a:xfrm>
            <a:off x="365760" y="731520"/>
            <a:ext cx="8412480" cy="360"/>
          </a:xfrm>
          <a:prstGeom prst="line">
            <a:avLst/>
          </a:prstGeom>
          <a:ln w="12700">
            <a:solidFill>
              <a:srgbClr val="00ff4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6" name="Text 4"/>
          <p:cNvSpPr/>
          <p:nvPr/>
        </p:nvSpPr>
        <p:spPr>
          <a:xfrm>
            <a:off x="457200" y="8229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8 métricas com limiares claros — sem subjetividade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57" name="Table 0"/>
          <p:cNvGraphicFramePr/>
          <p:nvPr/>
        </p:nvGraphicFramePr>
        <p:xfrm>
          <a:off x="365760" y="1188720"/>
          <a:ext cx="7772040" cy="1910880"/>
        </p:xfrm>
        <a:graphic>
          <a:graphicData uri="http://schemas.openxmlformats.org/drawingml/2006/table">
            <a:tbl>
              <a:tblPr/>
              <a:tblGrid>
                <a:gridCol w="1828800"/>
                <a:gridCol w="1554480"/>
                <a:gridCol w="1554480"/>
                <a:gridCol w="1554480"/>
                <a:gridCol w="128016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trike="noStrike" u="none">
                          <a:solidFill>
                            <a:srgbClr val="00ff41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Criterio</a:t>
                      </a:r>
                      <a:endParaRPr b="0" lang="en-US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0d1f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trike="noStrike" u="none">
                          <a:solidFill>
                            <a:srgbClr val="00ff41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GO</a:t>
                      </a:r>
                      <a:endParaRPr b="0" lang="en-US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0d1f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trike="noStrike" u="none">
                          <a:solidFill>
                            <a:srgbClr val="00ff41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PIVOT</a:t>
                      </a:r>
                      <a:endParaRPr b="0" lang="en-US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0d1f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trike="noStrike" u="none">
                          <a:solidFill>
                            <a:srgbClr val="00ff41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STOP</a:t>
                      </a:r>
                      <a:endParaRPr b="0" lang="en-US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0d1f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trike="noStrike" u="none">
                          <a:solidFill>
                            <a:srgbClr val="00ff41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Peso</a:t>
                      </a:r>
                      <a:endParaRPr b="0" lang="en-US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0d1f0d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800" strike="noStrike" u="none">
                          <a:solidFill>
                            <a:srgbClr val="b0b0b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Acuracia RAG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00ff4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&gt;80%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ffd7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60-80%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f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&lt;60%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70707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Critico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800" strike="noStrike" u="none">
                          <a:solidFill>
                            <a:srgbClr val="b0b0b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Adocao da equipe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00ff4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&gt;3 vend./dia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ffd7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1-2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f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Nenhum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70707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Alto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800" strike="noStrike" u="none">
                          <a:solidFill>
                            <a:srgbClr val="b0b0b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Tempo de resposta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00ff4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&lt;10s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ffd7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10-30s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f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&gt;30s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70707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Medio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800" strike="noStrike" u="none">
                          <a:solidFill>
                            <a:srgbClr val="b0b0b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Custo infra/mes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00ff4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&lt;R$ 2.000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ffd7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R$ 2-3K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f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&gt;R$ 3.000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70707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Alto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800" strike="noStrike" u="none">
                          <a:solidFill>
                            <a:srgbClr val="b0b0b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Percepcao do CEO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00ff4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Aplicação clara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ffd7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Potencial parcial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f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Sem valor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70707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Critico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800" strike="noStrike" u="none">
                          <a:solidFill>
                            <a:srgbClr val="b0b0b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Cobertura de dados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00ff4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100+ prod.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ffd7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50-100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f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&lt;50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70707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Critico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800" strike="noStrike" u="none">
                          <a:solidFill>
                            <a:srgbClr val="b0b0b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CSAT chatbot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00ff4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&gt;=4.5/5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ffd7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3.5-4.4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f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&lt;3.5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70707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Alto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800" strike="noStrike" u="none">
                          <a:solidFill>
                            <a:srgbClr val="b0b0b0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Taxa de fallback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00ff4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&lt;20%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ffd7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20-40%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f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&gt;40%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70707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Medio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</a:tr>
            </a:tbl>
          </a:graphicData>
        </a:graphic>
      </p:graphicFrame>
      <p:sp>
        <p:nvSpPr>
          <p:cNvPr id="258" name="Text 5"/>
          <p:cNvSpPr/>
          <p:nvPr/>
        </p:nvSpPr>
        <p:spPr>
          <a:xfrm>
            <a:off x="457200" y="470916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Construfic Materiais de Construção — Plano de Mentoria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6"/>
          <p:cNvSpPr/>
          <p:nvPr/>
        </p:nvSpPr>
        <p:spPr>
          <a:xfrm>
            <a:off x="7772400" y="47091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17 / 20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00000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1" name="Text 1"/>
          <p:cNvSpPr/>
          <p:nvPr/>
        </p:nvSpPr>
        <p:spPr>
          <a:xfrm>
            <a:off x="365760" y="22860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11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2"/>
          <p:cNvSpPr/>
          <p:nvPr/>
        </p:nvSpPr>
        <p:spPr>
          <a:xfrm>
            <a:off x="914400" y="22860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Mesmo se STOP — O Que Voce Fica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3"/>
          <p:cNvSpPr/>
          <p:nvPr/>
        </p:nvSpPr>
        <p:spPr>
          <a:xfrm>
            <a:off x="365760" y="731520"/>
            <a:ext cx="8412480" cy="360"/>
          </a:xfrm>
          <a:prstGeom prst="line">
            <a:avLst/>
          </a:prstGeom>
          <a:ln w="12700">
            <a:solidFill>
              <a:srgbClr val="00ff4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4" name="Text 4"/>
          <p:cNvSpPr/>
          <p:nvPr/>
        </p:nvSpPr>
        <p:spPr>
          <a:xfrm>
            <a:off x="457200" y="8229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O investimento na Fase 1 NUNCA e perdido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5"/>
          <p:cNvSpPr/>
          <p:nvPr/>
        </p:nvSpPr>
        <p:spPr>
          <a:xfrm>
            <a:off x="365760" y="1234440"/>
            <a:ext cx="2697120" cy="155412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66" name="Image 0" descr="preencoded.png"/>
          <p:cNvPicPr/>
          <p:nvPr/>
        </p:nvPicPr>
        <p:blipFill>
          <a:blip r:embed="rId2"/>
          <a:stretch/>
        </p:blipFill>
        <p:spPr>
          <a:xfrm>
            <a:off x="502920" y="13716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7" name="Text 6"/>
          <p:cNvSpPr/>
          <p:nvPr/>
        </p:nvSpPr>
        <p:spPr>
          <a:xfrm>
            <a:off x="914400" y="137160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Dados Organizados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7"/>
          <p:cNvSpPr/>
          <p:nvPr/>
        </p:nvSpPr>
        <p:spPr>
          <a:xfrm>
            <a:off x="502920" y="1783080"/>
            <a:ext cx="2422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Data Lake estruturado com dados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do Santri em 3 camadas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8"/>
          <p:cNvSpPr/>
          <p:nvPr/>
        </p:nvSpPr>
        <p:spPr>
          <a:xfrm>
            <a:off x="3200400" y="1234440"/>
            <a:ext cx="2697120" cy="155412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70" name="Image 1" descr="preencoded.png"/>
          <p:cNvPicPr/>
          <p:nvPr/>
        </p:nvPicPr>
        <p:blipFill>
          <a:blip r:embed="rId3"/>
          <a:stretch/>
        </p:blipFill>
        <p:spPr>
          <a:xfrm>
            <a:off x="3337560" y="13716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1" name="Text 9"/>
          <p:cNvSpPr/>
          <p:nvPr/>
        </p:nvSpPr>
        <p:spPr>
          <a:xfrm>
            <a:off x="3749040" y="137160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Dashboard BI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0"/>
          <p:cNvSpPr/>
          <p:nvPr/>
        </p:nvSpPr>
        <p:spPr>
          <a:xfrm>
            <a:off x="3337560" y="1783080"/>
            <a:ext cx="2422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Metabase funcionando com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indicadores reais do negócio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11"/>
          <p:cNvSpPr/>
          <p:nvPr/>
        </p:nvSpPr>
        <p:spPr>
          <a:xfrm>
            <a:off x="6035040" y="1234440"/>
            <a:ext cx="2697120" cy="155412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74" name="Image 2" descr="preencoded.png"/>
          <p:cNvPicPr/>
          <p:nvPr/>
        </p:nvPicPr>
        <p:blipFill>
          <a:blip r:embed="rId4"/>
          <a:stretch/>
        </p:blipFill>
        <p:spPr>
          <a:xfrm>
            <a:off x="6172200" y="13716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5" name="Text 12"/>
          <p:cNvSpPr/>
          <p:nvPr/>
        </p:nvSpPr>
        <p:spPr>
          <a:xfrm>
            <a:off x="6583680" y="137160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Documentação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3"/>
          <p:cNvSpPr/>
          <p:nvPr/>
        </p:nvSpPr>
        <p:spPr>
          <a:xfrm>
            <a:off x="6172200" y="1783080"/>
            <a:ext cx="2422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Processo mapeado, arquitetura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definida, fornecedores cotados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14"/>
          <p:cNvSpPr/>
          <p:nvPr/>
        </p:nvSpPr>
        <p:spPr>
          <a:xfrm>
            <a:off x="365760" y="2971800"/>
            <a:ext cx="2697120" cy="155412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78" name="Image 3" descr="preencoded.png"/>
          <p:cNvPicPr/>
          <p:nvPr/>
        </p:nvPicPr>
        <p:blipFill>
          <a:blip r:embed="rId5"/>
          <a:stretch/>
        </p:blipFill>
        <p:spPr>
          <a:xfrm>
            <a:off x="502920" y="31089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9" name="Text 15"/>
          <p:cNvSpPr/>
          <p:nvPr/>
        </p:nvSpPr>
        <p:spPr>
          <a:xfrm>
            <a:off x="914400" y="310896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Relatórios de Visitas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16"/>
          <p:cNvSpPr/>
          <p:nvPr/>
        </p:nvSpPr>
        <p:spPr>
          <a:xfrm>
            <a:off x="502920" y="3520440"/>
            <a:ext cx="2422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3 relatórios detalhados de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benchmarking com licoes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17"/>
          <p:cNvSpPr/>
          <p:nvPr/>
        </p:nvSpPr>
        <p:spPr>
          <a:xfrm>
            <a:off x="3200400" y="2971800"/>
            <a:ext cx="2697120" cy="155412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82" name="Image 4" descr="preencoded.png"/>
          <p:cNvPicPr/>
          <p:nvPr/>
        </p:nvPicPr>
        <p:blipFill>
          <a:blip r:embed="rId6"/>
          <a:stretch/>
        </p:blipFill>
        <p:spPr>
          <a:xfrm>
            <a:off x="3337560" y="31089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3" name="Text 18"/>
          <p:cNvSpPr/>
          <p:nvPr/>
        </p:nvSpPr>
        <p:spPr>
          <a:xfrm>
            <a:off x="3749040" y="310896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Scorecard Digital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9"/>
          <p:cNvSpPr/>
          <p:nvPr/>
        </p:nvSpPr>
        <p:spPr>
          <a:xfrm>
            <a:off x="3337560" y="3520440"/>
            <a:ext cx="2422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Avaliação de maturidade digital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da empresa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20"/>
          <p:cNvSpPr/>
          <p:nvPr/>
        </p:nvSpPr>
        <p:spPr>
          <a:xfrm>
            <a:off x="6035040" y="2971800"/>
            <a:ext cx="2697120" cy="155412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86" name="Image 5" descr="preencoded.png"/>
          <p:cNvPicPr/>
          <p:nvPr/>
        </p:nvPicPr>
        <p:blipFill>
          <a:blip r:embed="rId7"/>
          <a:stretch/>
        </p:blipFill>
        <p:spPr>
          <a:xfrm>
            <a:off x="6172200" y="31089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7" name="Text 21"/>
          <p:cNvSpPr/>
          <p:nvPr/>
        </p:nvSpPr>
        <p:spPr>
          <a:xfrm>
            <a:off x="6583680" y="310896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Entrevistas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22"/>
          <p:cNvSpPr/>
          <p:nvPr/>
        </p:nvSpPr>
        <p:spPr>
          <a:xfrm>
            <a:off x="6172200" y="3520440"/>
            <a:ext cx="2422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200+ perguntas aplicadas: CEO,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Diogo, Operação, Vendedores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23"/>
          <p:cNvSpPr/>
          <p:nvPr/>
        </p:nvSpPr>
        <p:spPr>
          <a:xfrm>
            <a:off x="457200" y="470916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Construfic Materiais de Construção — Plano de Mentoria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24"/>
          <p:cNvSpPr/>
          <p:nvPr/>
        </p:nvSpPr>
        <p:spPr>
          <a:xfrm>
            <a:off x="7772400" y="47091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17 / 20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00000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2" name="Text 1"/>
          <p:cNvSpPr/>
          <p:nvPr/>
        </p:nvSpPr>
        <p:spPr>
          <a:xfrm>
            <a:off x="365760" y="22860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12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2"/>
          <p:cNvSpPr/>
          <p:nvPr/>
        </p:nvSpPr>
        <p:spPr>
          <a:xfrm>
            <a:off x="914400" y="22860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Fase 2 — Produção (9 Meses)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3"/>
          <p:cNvSpPr/>
          <p:nvPr/>
        </p:nvSpPr>
        <p:spPr>
          <a:xfrm>
            <a:off x="365760" y="731520"/>
            <a:ext cx="8412480" cy="360"/>
          </a:xfrm>
          <a:prstGeom prst="line">
            <a:avLst/>
          </a:prstGeom>
          <a:ln w="12700">
            <a:solidFill>
              <a:srgbClr val="00ff4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5" name="Text 4"/>
          <p:cNvSpPr/>
          <p:nvPr/>
        </p:nvSpPr>
        <p:spPr>
          <a:xfrm>
            <a:off x="457200" y="8229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Condicional a decisão GO na Semana 12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5"/>
          <p:cNvSpPr/>
          <p:nvPr/>
        </p:nvSpPr>
        <p:spPr>
          <a:xfrm>
            <a:off x="365760" y="1234440"/>
            <a:ext cx="2742840" cy="274284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round/>
          </a:ln>
          <a:effectLst>
            <a:outerShdw algn="bl" blurRad="76320" dir="8100000" dist="25455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7" name="Text 6"/>
          <p:cNvSpPr/>
          <p:nvPr/>
        </p:nvSpPr>
        <p:spPr>
          <a:xfrm>
            <a:off x="365760" y="128016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Q2 (M4-M6)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7"/>
          <p:cNvSpPr/>
          <p:nvPr/>
        </p:nvSpPr>
        <p:spPr>
          <a:xfrm>
            <a:off x="365760" y="16459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07070"/>
                </a:solidFill>
                <a:effectLst/>
                <a:uFillTx/>
                <a:latin typeface="Consolas"/>
                <a:ea typeface="Consolas"/>
              </a:rPr>
              <a:t>108h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8"/>
          <p:cNvSpPr/>
          <p:nvPr/>
        </p:nvSpPr>
        <p:spPr>
          <a:xfrm>
            <a:off x="548640" y="2011680"/>
            <a:ext cx="23770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b0b0b0"/>
              </a:buClr>
              <a:buFont typeface="Symbol" charset="2"/>
              <a:buChar char=""/>
            </a:pPr>
            <a:r>
              <a:rPr b="0" lang="en-US" sz="10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Deploy em produção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b0b0"/>
              </a:buClr>
              <a:buFont typeface="Symbol" charset="2"/>
              <a:buChar char=""/>
            </a:pPr>
            <a:r>
              <a:rPr b="0" lang="en-US" sz="10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Piloto WhatsApp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b0b0"/>
              </a:buClr>
              <a:buFont typeface="Symbol" charset="2"/>
              <a:buChar char=""/>
            </a:pPr>
            <a:r>
              <a:rPr b="0" lang="en-US" sz="10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Dashboard expandido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b0b0"/>
              </a:buClr>
              <a:buFont typeface="Symbol" charset="2"/>
              <a:buChar char=""/>
            </a:pPr>
            <a:r>
              <a:rPr b="0" lang="en-US" sz="10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Contratação de fornecedor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9"/>
          <p:cNvSpPr/>
          <p:nvPr/>
        </p:nvSpPr>
        <p:spPr>
          <a:xfrm>
            <a:off x="3246120" y="1234440"/>
            <a:ext cx="2742840" cy="274284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round/>
          </a:ln>
          <a:effectLst>
            <a:outerShdw algn="bl" blurRad="76320" dir="8100000" dist="25455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1" name="Text 10"/>
          <p:cNvSpPr/>
          <p:nvPr/>
        </p:nvSpPr>
        <p:spPr>
          <a:xfrm>
            <a:off x="3246120" y="128016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Q3 (M7-M9)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1"/>
          <p:cNvSpPr/>
          <p:nvPr/>
        </p:nvSpPr>
        <p:spPr>
          <a:xfrm>
            <a:off x="3246120" y="16459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07070"/>
                </a:solidFill>
                <a:effectLst/>
                <a:uFillTx/>
                <a:latin typeface="Consolas"/>
                <a:ea typeface="Consolas"/>
              </a:rPr>
              <a:t>108h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2"/>
          <p:cNvSpPr/>
          <p:nvPr/>
        </p:nvSpPr>
        <p:spPr>
          <a:xfrm>
            <a:off x="3429000" y="2011680"/>
            <a:ext cx="23770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b0b0b0"/>
              </a:buClr>
              <a:buFont typeface="Symbol" charset="2"/>
              <a:buChar char=""/>
            </a:pPr>
            <a:r>
              <a:rPr b="0" lang="en-US" sz="10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Otimização continua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b0b0"/>
              </a:buClr>
              <a:buFont typeface="Symbol" charset="2"/>
              <a:buChar char=""/>
            </a:pPr>
            <a:r>
              <a:rPr b="0" lang="en-US" sz="10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BI Conversacional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b0b0"/>
              </a:buClr>
              <a:buFont typeface="Symbol" charset="2"/>
              <a:buChar char=""/>
            </a:pPr>
            <a:r>
              <a:rPr b="0" lang="en-US" sz="10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Auditoria de qualidade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b0b0"/>
              </a:buClr>
              <a:buFont typeface="Symbol" charset="2"/>
              <a:buChar char=""/>
            </a:pPr>
            <a:r>
              <a:rPr b="0" lang="en-US" sz="10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Cross-sell inteligente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13"/>
          <p:cNvSpPr/>
          <p:nvPr/>
        </p:nvSpPr>
        <p:spPr>
          <a:xfrm>
            <a:off x="6126480" y="1234440"/>
            <a:ext cx="2742840" cy="274284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round/>
          </a:ln>
          <a:effectLst>
            <a:outerShdw algn="bl" blurRad="76320" dir="8100000" dist="25455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5" name="Text 14"/>
          <p:cNvSpPr/>
          <p:nvPr/>
        </p:nvSpPr>
        <p:spPr>
          <a:xfrm>
            <a:off x="6126480" y="128016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Q4 (M10-M12)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5"/>
          <p:cNvSpPr/>
          <p:nvPr/>
        </p:nvSpPr>
        <p:spPr>
          <a:xfrm>
            <a:off x="6126480" y="16459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07070"/>
                </a:solidFill>
                <a:effectLst/>
                <a:uFillTx/>
                <a:latin typeface="Consolas"/>
                <a:ea typeface="Consolas"/>
              </a:rPr>
              <a:t>108h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6"/>
          <p:cNvSpPr/>
          <p:nvPr/>
        </p:nvSpPr>
        <p:spPr>
          <a:xfrm>
            <a:off x="6309360" y="2011680"/>
            <a:ext cx="23770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b0b0b0"/>
              </a:buClr>
              <a:buFont typeface="Symbol" charset="2"/>
              <a:buChar char=""/>
            </a:pPr>
            <a:r>
              <a:rPr b="0" lang="en-US" sz="10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Consolidação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b0b0"/>
              </a:buClr>
              <a:buFont typeface="Symbol" charset="2"/>
              <a:buChar char=""/>
            </a:pPr>
            <a:r>
              <a:rPr b="0" lang="en-US" sz="10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Transferência de conhecimento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b0b0"/>
              </a:buClr>
              <a:buFont typeface="Symbol" charset="2"/>
              <a:buChar char=""/>
            </a:pPr>
            <a:r>
              <a:rPr b="0" lang="en-US" sz="10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Autonomia operacional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b0b0"/>
              </a:buClr>
              <a:buFont typeface="Symbol" charset="2"/>
              <a:buChar char=""/>
            </a:pPr>
            <a:r>
              <a:rPr b="0" lang="en-US" sz="10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Relatório anual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17"/>
          <p:cNvSpPr/>
          <p:nvPr/>
        </p:nvSpPr>
        <p:spPr>
          <a:xfrm>
            <a:off x="365760" y="4114800"/>
            <a:ext cx="8412120" cy="411120"/>
          </a:xfrm>
          <a:prstGeom prst="rect">
            <a:avLst/>
          </a:prstGeom>
          <a:solidFill>
            <a:srgbClr val="0d1f0d"/>
          </a:solidFill>
          <a:ln w="635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9" name="Text 18"/>
          <p:cNvSpPr/>
          <p:nvPr/>
        </p:nvSpPr>
        <p:spPr>
          <a:xfrm>
            <a:off x="548640" y="4114800"/>
            <a:ext cx="8046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0ff41"/>
                </a:solidFill>
                <a:effectLst/>
                <a:uFillTx/>
                <a:latin typeface="Calibri"/>
                <a:ea typeface="Calibri"/>
              </a:rPr>
              <a:t>Total Fase 2: 324h  |  9 meses  |  Investimento: ~R$ 37.830 (mentoria) + custos de implementação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9"/>
          <p:cNvSpPr/>
          <p:nvPr/>
        </p:nvSpPr>
        <p:spPr>
          <a:xfrm>
            <a:off x="457200" y="470916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Construfic Materiais de Construção — Plano de Mentoria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20"/>
          <p:cNvSpPr/>
          <p:nvPr/>
        </p:nvSpPr>
        <p:spPr>
          <a:xfrm>
            <a:off x="7772400" y="47091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18 / 20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00000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3" name="Text 1"/>
          <p:cNvSpPr/>
          <p:nvPr/>
        </p:nvSpPr>
        <p:spPr>
          <a:xfrm>
            <a:off x="365760" y="22860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13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2"/>
          <p:cNvSpPr/>
          <p:nvPr/>
        </p:nvSpPr>
        <p:spPr>
          <a:xfrm>
            <a:off x="914400" y="22860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Mapeamento de Fornecedores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3"/>
          <p:cNvSpPr/>
          <p:nvPr/>
        </p:nvSpPr>
        <p:spPr>
          <a:xfrm>
            <a:off x="365760" y="731520"/>
            <a:ext cx="8412480" cy="360"/>
          </a:xfrm>
          <a:prstGeom prst="line">
            <a:avLst/>
          </a:prstGeom>
          <a:ln w="12700">
            <a:solidFill>
              <a:srgbClr val="00ff4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6" name="Text 4"/>
          <p:cNvSpPr/>
          <p:nvPr/>
        </p:nvSpPr>
        <p:spPr>
          <a:xfrm>
            <a:off x="457200" y="8229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3 perfis para escolha — identificados durante a Fase 1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5"/>
          <p:cNvSpPr/>
          <p:nvPr/>
        </p:nvSpPr>
        <p:spPr>
          <a:xfrm>
            <a:off x="365760" y="1234440"/>
            <a:ext cx="2742840" cy="320004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round/>
          </a:ln>
          <a:effectLst>
            <a:outerShdw algn="bl" blurRad="76320" dir="8100000" dist="25455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8" name="Text 6"/>
          <p:cNvSpPr/>
          <p:nvPr/>
        </p:nvSpPr>
        <p:spPr>
          <a:xfrm>
            <a:off x="365760" y="128016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Freelancer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7"/>
          <p:cNvSpPr/>
          <p:nvPr/>
        </p:nvSpPr>
        <p:spPr>
          <a:xfrm>
            <a:off x="365760" y="16459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R$ 80-150/h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8"/>
          <p:cNvSpPr/>
          <p:nvPr/>
        </p:nvSpPr>
        <p:spPr>
          <a:xfrm>
            <a:off x="502920" y="2011680"/>
            <a:ext cx="2468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00cc33"/>
                </a:solidFill>
                <a:effectLst/>
                <a:uFillTx/>
                <a:latin typeface="Consolas"/>
                <a:ea typeface="Consolas"/>
              </a:rPr>
              <a:t>Vantagens: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9"/>
          <p:cNvSpPr/>
          <p:nvPr/>
        </p:nvSpPr>
        <p:spPr>
          <a:xfrm>
            <a:off x="502920" y="2240280"/>
            <a:ext cx="24685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b0b0b0"/>
              </a:buClr>
              <a:buFont typeface="Symbol" charset="2"/>
              <a:buChar char=""/>
            </a:pPr>
            <a:r>
              <a:rPr b="0" lang="en-US" sz="85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Custo mais baixo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b0b0"/>
              </a:buClr>
              <a:buFont typeface="Symbol" charset="2"/>
              <a:buChar char=""/>
            </a:pPr>
            <a:r>
              <a:rPr b="0" lang="en-US" sz="85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Flexibilidade de horario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b0b0"/>
              </a:buClr>
              <a:buFont typeface="Symbol" charset="2"/>
              <a:buChar char=""/>
            </a:pPr>
            <a:r>
              <a:rPr b="0" lang="en-US" sz="85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Relacionamento direto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0"/>
          <p:cNvSpPr/>
          <p:nvPr/>
        </p:nvSpPr>
        <p:spPr>
          <a:xfrm>
            <a:off x="502920" y="3154680"/>
            <a:ext cx="2468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8844"/>
                </a:solidFill>
                <a:effectLst/>
                <a:uFillTx/>
                <a:latin typeface="Consolas"/>
                <a:ea typeface="Consolas"/>
              </a:rPr>
              <a:t>Riscos: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11"/>
          <p:cNvSpPr/>
          <p:nvPr/>
        </p:nvSpPr>
        <p:spPr>
          <a:xfrm>
            <a:off x="502920" y="3383280"/>
            <a:ext cx="2468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b0b0b0"/>
              </a:buClr>
              <a:buFont typeface="Symbol" charset="2"/>
              <a:buChar char=""/>
            </a:pPr>
            <a:r>
              <a:rPr b="0" lang="en-US" sz="85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Ponto unico de falha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b0b0"/>
              </a:buClr>
              <a:buFont typeface="Symbol" charset="2"/>
              <a:buChar char=""/>
            </a:pPr>
            <a:r>
              <a:rPr b="0" lang="en-US" sz="85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Sem backup em ferias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12"/>
          <p:cNvSpPr/>
          <p:nvPr/>
        </p:nvSpPr>
        <p:spPr>
          <a:xfrm>
            <a:off x="3246120" y="1234440"/>
            <a:ext cx="2742840" cy="320004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round/>
          </a:ln>
          <a:effectLst>
            <a:outerShdw algn="bl" blurRad="76320" dir="8100000" dist="25455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5" name="Text 13"/>
          <p:cNvSpPr/>
          <p:nvPr/>
        </p:nvSpPr>
        <p:spPr>
          <a:xfrm>
            <a:off x="3246120" y="128016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Micro-Agencia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4"/>
          <p:cNvSpPr/>
          <p:nvPr/>
        </p:nvSpPr>
        <p:spPr>
          <a:xfrm>
            <a:off x="3246120" y="16459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R$ 150-250/h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5"/>
          <p:cNvSpPr/>
          <p:nvPr/>
        </p:nvSpPr>
        <p:spPr>
          <a:xfrm>
            <a:off x="3383280" y="2011680"/>
            <a:ext cx="2468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00cc33"/>
                </a:solidFill>
                <a:effectLst/>
                <a:uFillTx/>
                <a:latin typeface="Consolas"/>
                <a:ea typeface="Consolas"/>
              </a:rPr>
              <a:t>Vantagens: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16"/>
          <p:cNvSpPr/>
          <p:nvPr/>
        </p:nvSpPr>
        <p:spPr>
          <a:xfrm>
            <a:off x="3383280" y="2240280"/>
            <a:ext cx="24685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b0b0b0"/>
              </a:buClr>
              <a:buFont typeface="Symbol" charset="2"/>
              <a:buChar char=""/>
            </a:pPr>
            <a:r>
              <a:rPr b="0" lang="en-US" sz="85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Time multi-disciplinar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b0b0"/>
              </a:buClr>
              <a:buFont typeface="Symbol" charset="2"/>
              <a:buChar char=""/>
            </a:pPr>
            <a:r>
              <a:rPr b="0" lang="en-US" sz="85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Entrega end-to-end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b0b0"/>
              </a:buClr>
              <a:buFont typeface="Symbol" charset="2"/>
              <a:buChar char=""/>
            </a:pPr>
            <a:r>
              <a:rPr b="0" lang="en-US" sz="85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SLA formal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7"/>
          <p:cNvSpPr/>
          <p:nvPr/>
        </p:nvSpPr>
        <p:spPr>
          <a:xfrm>
            <a:off x="3383280" y="3154680"/>
            <a:ext cx="2468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8844"/>
                </a:solidFill>
                <a:effectLst/>
                <a:uFillTx/>
                <a:latin typeface="Consolas"/>
                <a:ea typeface="Consolas"/>
              </a:rPr>
              <a:t>Riscos: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8"/>
          <p:cNvSpPr/>
          <p:nvPr/>
        </p:nvSpPr>
        <p:spPr>
          <a:xfrm>
            <a:off x="3383280" y="3383280"/>
            <a:ext cx="2468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b0b0b0"/>
              </a:buClr>
              <a:buFont typeface="Symbol" charset="2"/>
              <a:buChar char=""/>
            </a:pPr>
            <a:r>
              <a:rPr b="0" lang="en-US" sz="85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Custo mais alto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b0b0"/>
              </a:buClr>
              <a:buFont typeface="Symbol" charset="2"/>
              <a:buChar char=""/>
            </a:pPr>
            <a:r>
              <a:rPr b="0" lang="en-US" sz="85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Possivel rotação de equipe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19"/>
          <p:cNvSpPr/>
          <p:nvPr/>
        </p:nvSpPr>
        <p:spPr>
          <a:xfrm>
            <a:off x="6126480" y="1234440"/>
            <a:ext cx="2742840" cy="320004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round/>
          </a:ln>
          <a:effectLst>
            <a:outerShdw algn="bl" blurRad="76320" dir="8100000" dist="25455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2" name="Text 20"/>
          <p:cNvSpPr/>
          <p:nvPr/>
        </p:nvSpPr>
        <p:spPr>
          <a:xfrm>
            <a:off x="6126480" y="128016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Plataforma SaaS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21"/>
          <p:cNvSpPr/>
          <p:nvPr/>
        </p:nvSpPr>
        <p:spPr>
          <a:xfrm>
            <a:off x="6126480" y="16459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R$ 500-2.000/mes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22"/>
          <p:cNvSpPr/>
          <p:nvPr/>
        </p:nvSpPr>
        <p:spPr>
          <a:xfrm>
            <a:off x="6263640" y="2011680"/>
            <a:ext cx="2468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00cc33"/>
                </a:solidFill>
                <a:effectLst/>
                <a:uFillTx/>
                <a:latin typeface="Consolas"/>
                <a:ea typeface="Consolas"/>
              </a:rPr>
              <a:t>Vantagens: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23"/>
          <p:cNvSpPr/>
          <p:nvPr/>
        </p:nvSpPr>
        <p:spPr>
          <a:xfrm>
            <a:off x="6263640" y="2240280"/>
            <a:ext cx="24685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b0b0b0"/>
              </a:buClr>
              <a:buFont typeface="Symbol" charset="2"/>
              <a:buChar char=""/>
            </a:pPr>
            <a:r>
              <a:rPr b="0" lang="en-US" sz="85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Deploy mais rápido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b0b0"/>
              </a:buClr>
              <a:buFont typeface="Symbol" charset="2"/>
              <a:buChar char=""/>
            </a:pPr>
            <a:r>
              <a:rPr b="0" lang="en-US" sz="85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Infra incluida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b0b0"/>
              </a:buClr>
              <a:buFont typeface="Symbol" charset="2"/>
              <a:buChar char=""/>
            </a:pPr>
            <a:r>
              <a:rPr b="0" lang="en-US" sz="85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Suporte técnico 24/7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24"/>
          <p:cNvSpPr/>
          <p:nvPr/>
        </p:nvSpPr>
        <p:spPr>
          <a:xfrm>
            <a:off x="6263640" y="3154680"/>
            <a:ext cx="2468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8844"/>
                </a:solidFill>
                <a:effectLst/>
                <a:uFillTx/>
                <a:latin typeface="Consolas"/>
                <a:ea typeface="Consolas"/>
              </a:rPr>
              <a:t>Riscos: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25"/>
          <p:cNvSpPr/>
          <p:nvPr/>
        </p:nvSpPr>
        <p:spPr>
          <a:xfrm>
            <a:off x="6263640" y="3383280"/>
            <a:ext cx="2468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b0b0b0"/>
              </a:buClr>
              <a:buFont typeface="Symbol" charset="2"/>
              <a:buChar char=""/>
            </a:pPr>
            <a:r>
              <a:rPr b="0" lang="en-US" sz="85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Menos customização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0b0b0"/>
              </a:buClr>
              <a:buFont typeface="Symbol" charset="2"/>
              <a:buChar char=""/>
            </a:pPr>
            <a:r>
              <a:rPr b="0" lang="en-US" sz="85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Vendor lock-in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26"/>
          <p:cNvSpPr/>
          <p:nvPr/>
        </p:nvSpPr>
        <p:spPr>
          <a:xfrm>
            <a:off x="457200" y="470916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Construfic Materiais de Construção — Plano de Mentoria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27"/>
          <p:cNvSpPr/>
          <p:nvPr/>
        </p:nvSpPr>
        <p:spPr>
          <a:xfrm>
            <a:off x="7772400" y="47091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19 / 20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00000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1" name="Text 1"/>
          <p:cNvSpPr/>
          <p:nvPr/>
        </p:nvSpPr>
        <p:spPr>
          <a:xfrm>
            <a:off x="365760" y="22860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14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2"/>
          <p:cNvSpPr/>
          <p:nvPr/>
        </p:nvSpPr>
        <p:spPr>
          <a:xfrm>
            <a:off x="914400" y="22860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Business Case e ROI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3"/>
          <p:cNvSpPr/>
          <p:nvPr/>
        </p:nvSpPr>
        <p:spPr>
          <a:xfrm>
            <a:off x="365760" y="731520"/>
            <a:ext cx="8412480" cy="360"/>
          </a:xfrm>
          <a:prstGeom prst="line">
            <a:avLst/>
          </a:prstGeom>
          <a:ln w="12700">
            <a:solidFill>
              <a:srgbClr val="00ff4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4" name="Text 4"/>
          <p:cNvSpPr/>
          <p:nvPr/>
        </p:nvSpPr>
        <p:spPr>
          <a:xfrm>
            <a:off x="457200" y="8229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Investimento total vs. retorno estimado em 3 cenários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45" name="Table 0"/>
          <p:cNvGraphicFramePr/>
          <p:nvPr/>
        </p:nvGraphicFramePr>
        <p:xfrm>
          <a:off x="365760" y="1188720"/>
          <a:ext cx="8320680" cy="1634760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2011680"/>
                <a:gridCol w="201168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trike="noStrike" u="none">
                          <a:solidFill>
                            <a:srgbClr val="00ff4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Item</a:t>
                      </a:r>
                      <a:endParaRPr b="0" lang="en-US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0d1f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trike="noStrike" u="none">
                          <a:solidFill>
                            <a:srgbClr val="00ff4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Conservador</a:t>
                      </a:r>
                      <a:endParaRPr b="0" lang="en-US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0d1f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trike="noStrike" u="none">
                          <a:solidFill>
                            <a:srgbClr val="00ff4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Base</a:t>
                      </a:r>
                      <a:endParaRPr b="0" lang="en-US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0d1f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trike="noStrike" u="none">
                          <a:solidFill>
                            <a:srgbClr val="00ff4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Otimista</a:t>
                      </a:r>
                      <a:endParaRPr b="0" lang="en-US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0d1f0d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b0b0b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Mentoria (12m)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R$ 52.380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R$ 52.380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R$ 52.380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b0b0b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Infra cloud (12m)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R$ 18.000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R$ 12.000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R$ 6.000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b0b0b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APIs LLM (12m)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R$ 3.600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R$ 2.400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R$ 1.200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b0b0b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Fornecedor (Fase 2)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R$ 48.000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R$ 30.000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R$ 15.000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b0b0b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Visitas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R$ 1.300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R$ 1.200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R$ 1.130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trike="noStrike" u="none">
                          <a:solidFill>
                            <a:srgbClr val="00ff4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TOTAL</a:t>
                      </a:r>
                      <a:endParaRPr b="0" lang="en-US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0d1f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trike="noStrike" u="none">
                          <a:solidFill>
                            <a:srgbClr val="00ff4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R$ 123.280</a:t>
                      </a:r>
                      <a:endParaRPr b="0" lang="en-US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0d1f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trike="noStrike" u="none">
                          <a:solidFill>
                            <a:srgbClr val="00ff4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R$ 97.980</a:t>
                      </a:r>
                      <a:endParaRPr b="0" lang="en-US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0d1f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trike="noStrike" u="none">
                          <a:solidFill>
                            <a:srgbClr val="00ff4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R$ 75.710</a:t>
                      </a:r>
                      <a:endParaRPr b="0" lang="en-US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0d1f0d"/>
                    </a:solidFill>
                  </a:tcPr>
                </a:tc>
              </a:tr>
            </a:tbl>
          </a:graphicData>
        </a:graphic>
      </p:graphicFrame>
      <p:sp>
        <p:nvSpPr>
          <p:cNvPr id="346" name="Shape 5"/>
          <p:cNvSpPr/>
          <p:nvPr/>
        </p:nvSpPr>
        <p:spPr>
          <a:xfrm>
            <a:off x="365760" y="3657600"/>
            <a:ext cx="8412120" cy="639720"/>
          </a:xfrm>
          <a:prstGeom prst="rect">
            <a:avLst/>
          </a:prstGeom>
          <a:solidFill>
            <a:srgbClr val="0d1f0d"/>
          </a:solidFill>
          <a:ln w="635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7" name="Text 6"/>
          <p:cNvSpPr/>
          <p:nvPr/>
        </p:nvSpPr>
        <p:spPr>
          <a:xfrm>
            <a:off x="548640" y="3657600"/>
            <a:ext cx="8046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0ff41"/>
                </a:solidFill>
                <a:effectLst/>
                <a:uFillTx/>
                <a:latin typeface="Calibri"/>
                <a:ea typeface="Calibri"/>
              </a:rPr>
              <a:t>Break-even estimado: </a:t>
            </a:r>
            <a:r>
              <a:rPr b="0" lang="en-US" sz="9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Cenario base: 8-14 meses  |  Infra mensal prevista: R$ 1.500-2.000  |  Valores calibrados com dados reais na Fase 1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7"/>
          <p:cNvSpPr/>
          <p:nvPr/>
        </p:nvSpPr>
        <p:spPr>
          <a:xfrm>
            <a:off x="365760" y="443484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trike="noStrike" u="none">
                <a:solidFill>
                  <a:srgbClr val="707070"/>
                </a:solidFill>
                <a:effectLst/>
                <a:uFillTx/>
                <a:latin typeface="Consolas"/>
                <a:ea typeface="Consolas"/>
              </a:rPr>
              <a:t>IMPORTANTE: BREAK EVEN/ROI INFERIDOS COM BASE NA LITERATURA E CASOS ANALISADOS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8"/>
          <p:cNvSpPr/>
          <p:nvPr/>
        </p:nvSpPr>
        <p:spPr>
          <a:xfrm>
            <a:off x="457200" y="470916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Construfic Materiais de Construção — Plano de Mentoria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9"/>
          <p:cNvSpPr/>
          <p:nvPr/>
        </p:nvSpPr>
        <p:spPr>
          <a:xfrm>
            <a:off x="7772400" y="47091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20 / 20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00000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2" name="Text 1"/>
          <p:cNvSpPr/>
          <p:nvPr/>
        </p:nvSpPr>
        <p:spPr>
          <a:xfrm>
            <a:off x="365760" y="22860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16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2"/>
          <p:cNvSpPr/>
          <p:nvPr/>
        </p:nvSpPr>
        <p:spPr>
          <a:xfrm>
            <a:off x="914400" y="22860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Comparativo Tecnologico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3"/>
          <p:cNvSpPr/>
          <p:nvPr/>
        </p:nvSpPr>
        <p:spPr>
          <a:xfrm>
            <a:off x="365760" y="731520"/>
            <a:ext cx="8412480" cy="360"/>
          </a:xfrm>
          <a:prstGeom prst="line">
            <a:avLst/>
          </a:prstGeom>
          <a:ln w="12700">
            <a:solidFill>
              <a:srgbClr val="00ff4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5" name="Text 4"/>
          <p:cNvSpPr/>
          <p:nvPr/>
        </p:nvSpPr>
        <p:spPr>
          <a:xfrm>
            <a:off x="457200" y="8229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Comecar com GPT-4o-mini, testar alternativas durante o POC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56" name="Table 0"/>
          <p:cNvGraphicFramePr/>
          <p:nvPr/>
        </p:nvGraphicFramePr>
        <p:xfrm>
          <a:off x="365760" y="1188720"/>
          <a:ext cx="8320680" cy="1176480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2011680"/>
                <a:gridCol w="201168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trike="noStrike" u="none">
                          <a:solidFill>
                            <a:srgbClr val="00ff4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Criterio</a:t>
                      </a:r>
                      <a:endParaRPr b="0" lang="en-US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0d1f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trike="noStrike" u="none">
                          <a:solidFill>
                            <a:srgbClr val="00ff4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GPT-4o-mini</a:t>
                      </a:r>
                      <a:endParaRPr b="0" lang="en-US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0d1f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trike="noStrike" u="none">
                          <a:solidFill>
                            <a:srgbClr val="00ff4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Gemini Flash</a:t>
                      </a:r>
                      <a:endParaRPr b="0" lang="en-US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0d1f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trike="noStrike" u="none">
                          <a:solidFill>
                            <a:srgbClr val="00ff4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Azure OpenAI</a:t>
                      </a:r>
                      <a:endParaRPr b="0" lang="en-US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0d1f0d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Preco input/1M tokens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b0b0b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$0.15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b0b0b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$0.10-0.30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b0b0b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$0.15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Preco output/1M tokens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b0b0b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$0.60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b0b0b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$0.40-2.50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b0b0b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$0.60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Qualidade PT-BR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b0b0b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Excelente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b0b0b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Muito boa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b0b0b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Excelente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Ecossistema RAG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b0b0b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90%+ tutoriais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b0b0b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Crescendo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b0b0b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Robusto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Embeddings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b0b0b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$0.02/1M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b0b0b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GRATIS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b0b0b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$0.02/1M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</a:tr>
            </a:tbl>
          </a:graphicData>
        </a:graphic>
      </p:graphicFrame>
      <p:sp>
        <p:nvSpPr>
          <p:cNvPr id="357" name="Shape 5"/>
          <p:cNvSpPr/>
          <p:nvPr/>
        </p:nvSpPr>
        <p:spPr>
          <a:xfrm>
            <a:off x="365760" y="3200400"/>
            <a:ext cx="8412120" cy="914040"/>
          </a:xfrm>
          <a:prstGeom prst="rect">
            <a:avLst/>
          </a:prstGeom>
          <a:solidFill>
            <a:srgbClr val="0d1f0d"/>
          </a:solidFill>
          <a:ln w="635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58" name="Image 0" descr="preencoded.png"/>
          <p:cNvPicPr/>
          <p:nvPr/>
        </p:nvPicPr>
        <p:blipFill>
          <a:blip r:embed="rId2"/>
          <a:stretch/>
        </p:blipFill>
        <p:spPr>
          <a:xfrm>
            <a:off x="548640" y="333756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9" name="Text 6"/>
          <p:cNvSpPr/>
          <p:nvPr/>
        </p:nvSpPr>
        <p:spPr>
          <a:xfrm>
            <a:off x="1005840" y="3200400"/>
            <a:ext cx="75891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0ff41"/>
                </a:solidFill>
                <a:effectLst/>
                <a:uFillTx/>
                <a:latin typeface="Calibri"/>
                <a:ea typeface="Calibri"/>
              </a:rPr>
              <a:t>Recomendação: </a:t>
            </a:r>
            <a:r>
              <a:rPr b="0" lang="en-US" sz="10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Iniciar com GPT-4o-mini (maxima documentação, menor risco). Testar Gemini como alternativa durante o POC. Decidir com dados reais para a Fase 2.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7"/>
          <p:cNvSpPr/>
          <p:nvPr/>
        </p:nvSpPr>
        <p:spPr>
          <a:xfrm>
            <a:off x="457200" y="470916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Construfic Materiais de Construção — Plano de Mentoria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8"/>
          <p:cNvSpPr/>
          <p:nvPr/>
        </p:nvSpPr>
        <p:spPr>
          <a:xfrm>
            <a:off x="7772400" y="47091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22 / 20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00000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3" name="Text 1"/>
          <p:cNvSpPr/>
          <p:nvPr/>
        </p:nvSpPr>
        <p:spPr>
          <a:xfrm>
            <a:off x="365760" y="22860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17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2"/>
          <p:cNvSpPr/>
          <p:nvPr/>
        </p:nvSpPr>
        <p:spPr>
          <a:xfrm>
            <a:off x="914400" y="22860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LGPD e Protecao de Dados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3"/>
          <p:cNvSpPr/>
          <p:nvPr/>
        </p:nvSpPr>
        <p:spPr>
          <a:xfrm>
            <a:off x="365760" y="731520"/>
            <a:ext cx="8412480" cy="360"/>
          </a:xfrm>
          <a:prstGeom prst="line">
            <a:avLst/>
          </a:prstGeom>
          <a:ln w="12700">
            <a:solidFill>
              <a:srgbClr val="00ff4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6" name="Text 4"/>
          <p:cNvSpPr/>
          <p:nvPr/>
        </p:nvSpPr>
        <p:spPr>
          <a:xfrm>
            <a:off x="457200" y="8229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WhatsApp com clientes exige framework de consentimento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5"/>
          <p:cNvSpPr/>
          <p:nvPr/>
        </p:nvSpPr>
        <p:spPr>
          <a:xfrm>
            <a:off x="365760" y="1234440"/>
            <a:ext cx="4114440" cy="137124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68" name="Image 0" descr="preencoded.png"/>
          <p:cNvPicPr/>
          <p:nvPr/>
        </p:nvPicPr>
        <p:blipFill>
          <a:blip r:embed="rId2"/>
          <a:stretch/>
        </p:blipFill>
        <p:spPr>
          <a:xfrm>
            <a:off x="502920" y="13716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9" name="Text 6"/>
          <p:cNvSpPr/>
          <p:nvPr/>
        </p:nvSpPr>
        <p:spPr>
          <a:xfrm>
            <a:off x="960120" y="137160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Consentimento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7"/>
          <p:cNvSpPr/>
          <p:nvPr/>
        </p:nvSpPr>
        <p:spPr>
          <a:xfrm>
            <a:off x="960120" y="1737360"/>
            <a:ext cx="3382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Opt-in explicito antes de coletar dados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via WhatsApp. Registro com timestamp.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8"/>
          <p:cNvSpPr/>
          <p:nvPr/>
        </p:nvSpPr>
        <p:spPr>
          <a:xfrm>
            <a:off x="4663440" y="1234440"/>
            <a:ext cx="4114440" cy="137124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72" name="Image 1" descr="preencoded.png"/>
          <p:cNvPicPr/>
          <p:nvPr/>
        </p:nvPicPr>
        <p:blipFill>
          <a:blip r:embed="rId3"/>
          <a:stretch/>
        </p:blipFill>
        <p:spPr>
          <a:xfrm>
            <a:off x="4800600" y="13716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3" name="Text 9"/>
          <p:cNvSpPr/>
          <p:nvPr/>
        </p:nvSpPr>
        <p:spPr>
          <a:xfrm>
            <a:off x="5257800" y="137160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Anonimização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0"/>
          <p:cNvSpPr/>
          <p:nvPr/>
        </p:nvSpPr>
        <p:spPr>
          <a:xfrm>
            <a:off x="5257800" y="1737360"/>
            <a:ext cx="3382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Dados de treinamento do RAG sem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informações pessoais. PII removido.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11"/>
          <p:cNvSpPr/>
          <p:nvPr/>
        </p:nvSpPr>
        <p:spPr>
          <a:xfrm>
            <a:off x="365760" y="2788920"/>
            <a:ext cx="4114440" cy="137124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76" name="Image 2" descr="preencoded.png"/>
          <p:cNvPicPr/>
          <p:nvPr/>
        </p:nvPicPr>
        <p:blipFill>
          <a:blip r:embed="rId4"/>
          <a:stretch/>
        </p:blipFill>
        <p:spPr>
          <a:xfrm>
            <a:off x="502920" y="2926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7" name="Text 12"/>
          <p:cNvSpPr/>
          <p:nvPr/>
        </p:nvSpPr>
        <p:spPr>
          <a:xfrm>
            <a:off x="960120" y="292608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Retencao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13"/>
          <p:cNvSpPr/>
          <p:nvPr/>
        </p:nvSpPr>
        <p:spPr>
          <a:xfrm>
            <a:off x="960120" y="3291840"/>
            <a:ext cx="3382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Logs de conversa por 6 meses.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Dados de produto permanentes.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14"/>
          <p:cNvSpPr/>
          <p:nvPr/>
        </p:nvSpPr>
        <p:spPr>
          <a:xfrm>
            <a:off x="4663440" y="2788920"/>
            <a:ext cx="4114440" cy="1371240"/>
          </a:xfrm>
          <a:prstGeom prst="rect">
            <a:avLst/>
          </a:prstGeom>
          <a:solidFill>
            <a:srgbClr val="111b11"/>
          </a:solidFill>
          <a:ln w="635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80" name="Image 3" descr="preencoded.png"/>
          <p:cNvPicPr/>
          <p:nvPr/>
        </p:nvPicPr>
        <p:blipFill>
          <a:blip r:embed="rId5"/>
          <a:stretch/>
        </p:blipFill>
        <p:spPr>
          <a:xfrm>
            <a:off x="4800600" y="292608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1" name="Text 15"/>
          <p:cNvSpPr/>
          <p:nvPr/>
        </p:nvSpPr>
        <p:spPr>
          <a:xfrm>
            <a:off x="5257800" y="292608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Direitos LGPD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16"/>
          <p:cNvSpPr/>
          <p:nvPr/>
        </p:nvSpPr>
        <p:spPr>
          <a:xfrm>
            <a:off x="5257800" y="3291840"/>
            <a:ext cx="33829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Portabilidade, exclusao e acesso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garantidos. Processo definido.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17"/>
          <p:cNvSpPr/>
          <p:nvPr/>
        </p:nvSpPr>
        <p:spPr>
          <a:xfrm>
            <a:off x="365760" y="4114800"/>
            <a:ext cx="8412120" cy="411120"/>
          </a:xfrm>
          <a:prstGeom prst="rect">
            <a:avLst/>
          </a:prstGeom>
          <a:solidFill>
            <a:srgbClr val="2b2b0d"/>
          </a:solidFill>
          <a:ln w="6350">
            <a:solidFill>
              <a:srgbClr val="ffd7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4" name="Text 18"/>
          <p:cNvSpPr/>
          <p:nvPr/>
        </p:nvSpPr>
        <p:spPr>
          <a:xfrm>
            <a:off x="548640" y="4114800"/>
            <a:ext cx="8046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ffd700"/>
                </a:solidFill>
                <a:effectLst/>
                <a:uFillTx/>
                <a:latin typeface="Calibri"/>
                <a:ea typeface="Calibri"/>
              </a:rPr>
              <a:t>Dados proprietarios da Construfic NAO serao expostos em modelos de IA publicos — conforme definido na reunião de 02/03.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19"/>
          <p:cNvSpPr/>
          <p:nvPr/>
        </p:nvSpPr>
        <p:spPr>
          <a:xfrm>
            <a:off x="457200" y="470916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Construfic Materiais de Construção — Plano de Mentoria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20"/>
          <p:cNvSpPr/>
          <p:nvPr/>
        </p:nvSpPr>
        <p:spPr>
          <a:xfrm>
            <a:off x="7772400" y="47091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23 / 20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00000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8" name="Text 1"/>
          <p:cNvSpPr/>
          <p:nvPr/>
        </p:nvSpPr>
        <p:spPr>
          <a:xfrm>
            <a:off x="365760" y="22860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18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2"/>
          <p:cNvSpPr/>
          <p:nvPr/>
        </p:nvSpPr>
        <p:spPr>
          <a:xfrm>
            <a:off x="914400" y="22860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Riscos e Mitigações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3"/>
          <p:cNvSpPr/>
          <p:nvPr/>
        </p:nvSpPr>
        <p:spPr>
          <a:xfrm>
            <a:off x="365760" y="731520"/>
            <a:ext cx="8412480" cy="360"/>
          </a:xfrm>
          <a:prstGeom prst="line">
            <a:avLst/>
          </a:prstGeom>
          <a:ln w="12700">
            <a:solidFill>
              <a:srgbClr val="00ff4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1" name="Text 4"/>
          <p:cNvSpPr/>
          <p:nvPr/>
        </p:nvSpPr>
        <p:spPr>
          <a:xfrm>
            <a:off x="457200" y="8229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Principais riscos identificados e plano de contingencia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92" name="Table 0"/>
          <p:cNvGraphicFramePr/>
          <p:nvPr/>
        </p:nvGraphicFramePr>
        <p:xfrm>
          <a:off x="365760" y="1188720"/>
          <a:ext cx="7772040" cy="137052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822960"/>
                <a:gridCol w="420624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trike="noStrike" u="none">
                          <a:solidFill>
                            <a:srgbClr val="00ff4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Risco</a:t>
                      </a:r>
                      <a:endParaRPr b="0" lang="en-US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0d1f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trike="noStrike" u="none">
                          <a:solidFill>
                            <a:srgbClr val="00ff4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Prob.</a:t>
                      </a:r>
                      <a:endParaRPr b="0" lang="en-US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0d1f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trike="noStrike" u="none">
                          <a:solidFill>
                            <a:srgbClr val="00ff4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Impacto</a:t>
                      </a:r>
                      <a:endParaRPr b="0" lang="en-US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0d1f0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trike="noStrike" u="none">
                          <a:solidFill>
                            <a:srgbClr val="00ff4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Mitigação</a:t>
                      </a:r>
                      <a:endParaRPr b="0" lang="en-US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0d1f0d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b0b0b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Baixa adocao da equipe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ffd7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Media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f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Alto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b0b0b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Envolver vendedores desde Mês 1. Treinamento hands-on.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b0b0b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Dados do Santri incompletos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f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Alta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ffd7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Medio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b0b0b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Inventário de dados na S1. Complementar com catálogos.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b0b0b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Acuracia RAG insuficiente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ffd7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Media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f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Alto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b0b0b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Benchmark em visitas. Teste A/B. Fallback humano.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b0b0b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Custo de infra acima do previsto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00ff4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Baixa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ffd7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Medio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b0b0b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Monitoramento diario. Limites de API. Swap modelo menor.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b0b0b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Empresa visitada cancela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ffd7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Media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00ff4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Baixo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b0b0b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2a opcao para cada visita. Leroy: loja Sorocaba.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b0b0b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ERP lanca solução similar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00ff4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Baixa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ffd7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Medio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b0b0b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Construfic ja tera 12m de vantagem. Versao generica.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003b00"/>
                      </a:solidFill>
                      <a:prstDash val="solid"/>
                    </a:lnL>
                    <a:lnR w="6480">
                      <a:solidFill>
                        <a:srgbClr val="003b00"/>
                      </a:solidFill>
                      <a:prstDash val="solid"/>
                    </a:lnR>
                    <a:lnT w="6480">
                      <a:solidFill>
                        <a:srgbClr val="003b00"/>
                      </a:solidFill>
                      <a:prstDash val="solid"/>
                    </a:lnT>
                    <a:lnB w="6480">
                      <a:solidFill>
                        <a:srgbClr val="003b00"/>
                      </a:solidFill>
                      <a:prstDash val="solid"/>
                    </a:lnB>
                    <a:solidFill>
                      <a:srgbClr val="111b11"/>
                    </a:solidFill>
                  </a:tcPr>
                </a:tc>
              </a:tr>
            </a:tbl>
          </a:graphicData>
        </a:graphic>
      </p:graphicFrame>
      <p:sp>
        <p:nvSpPr>
          <p:cNvPr id="393" name="Text 5"/>
          <p:cNvSpPr/>
          <p:nvPr/>
        </p:nvSpPr>
        <p:spPr>
          <a:xfrm>
            <a:off x="457200" y="470916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Construfic Materiais de Construção — Plano de Mentoria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6"/>
          <p:cNvSpPr/>
          <p:nvPr/>
        </p:nvSpPr>
        <p:spPr>
          <a:xfrm>
            <a:off x="7772400" y="47091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24 / 20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00000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6" name="Text 1"/>
          <p:cNvSpPr/>
          <p:nvPr/>
        </p:nvSpPr>
        <p:spPr>
          <a:xfrm>
            <a:off x="365760" y="22860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19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2"/>
          <p:cNvSpPr/>
          <p:nvPr/>
        </p:nvSpPr>
        <p:spPr>
          <a:xfrm>
            <a:off x="914400" y="22860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Próximos Passos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3"/>
          <p:cNvSpPr/>
          <p:nvPr/>
        </p:nvSpPr>
        <p:spPr>
          <a:xfrm>
            <a:off x="365760" y="731520"/>
            <a:ext cx="8412480" cy="360"/>
          </a:xfrm>
          <a:prstGeom prst="line">
            <a:avLst/>
          </a:prstGeom>
          <a:ln w="12700">
            <a:solidFill>
              <a:srgbClr val="00ff4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9" name="Text 4"/>
          <p:cNvSpPr/>
          <p:nvPr/>
        </p:nvSpPr>
        <p:spPr>
          <a:xfrm>
            <a:off x="457200" y="8229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Ações imediatas definidas na reunião de 02/03/2026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5"/>
          <p:cNvSpPr/>
          <p:nvPr/>
        </p:nvSpPr>
        <p:spPr>
          <a:xfrm>
            <a:off x="365760" y="1143000"/>
            <a:ext cx="411120" cy="347040"/>
          </a:xfrm>
          <a:prstGeom prst="rect">
            <a:avLst/>
          </a:prstGeom>
          <a:solidFill>
            <a:srgbClr val="00ff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1" name="Text 6"/>
          <p:cNvSpPr/>
          <p:nvPr/>
        </p:nvSpPr>
        <p:spPr>
          <a:xfrm>
            <a:off x="365760" y="1143000"/>
            <a:ext cx="411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a0a0a"/>
                </a:solidFill>
                <a:effectLst/>
                <a:uFillTx/>
                <a:latin typeface="Consolas"/>
                <a:ea typeface="Consolas"/>
              </a:rPr>
              <a:t>01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7"/>
          <p:cNvSpPr/>
          <p:nvPr/>
        </p:nvSpPr>
        <p:spPr>
          <a:xfrm>
            <a:off x="868680" y="1143000"/>
            <a:ext cx="4114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0ff41"/>
                </a:solidFill>
                <a:effectLst/>
                <a:uFillTx/>
                <a:latin typeface="Calibri"/>
                <a:ea typeface="Calibri"/>
              </a:rPr>
              <a:t>Plano de Mentoria aprovado (reunião 02/03)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8"/>
          <p:cNvSpPr/>
          <p:nvPr/>
        </p:nvSpPr>
        <p:spPr>
          <a:xfrm>
            <a:off x="5120640" y="1143000"/>
            <a:ext cx="1645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CEO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9"/>
          <p:cNvSpPr/>
          <p:nvPr/>
        </p:nvSpPr>
        <p:spPr>
          <a:xfrm>
            <a:off x="6858000" y="1143000"/>
            <a:ext cx="1919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Concluido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10"/>
          <p:cNvSpPr/>
          <p:nvPr/>
        </p:nvSpPr>
        <p:spPr>
          <a:xfrm>
            <a:off x="365760" y="1572840"/>
            <a:ext cx="411120" cy="347040"/>
          </a:xfrm>
          <a:prstGeom prst="rect">
            <a:avLst/>
          </a:prstGeom>
          <a:solidFill>
            <a:srgbClr val="003b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6" name="Text 11"/>
          <p:cNvSpPr/>
          <p:nvPr/>
        </p:nvSpPr>
        <p:spPr>
          <a:xfrm>
            <a:off x="365760" y="1572840"/>
            <a:ext cx="411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02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12"/>
          <p:cNvSpPr/>
          <p:nvPr/>
        </p:nvSpPr>
        <p:spPr>
          <a:xfrm>
            <a:off x="868680" y="1572840"/>
            <a:ext cx="4114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Reunião técnica com equipe de TI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13"/>
          <p:cNvSpPr/>
          <p:nvPr/>
        </p:nvSpPr>
        <p:spPr>
          <a:xfrm>
            <a:off x="5120640" y="1572840"/>
            <a:ext cx="1645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CEO + Consultor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14"/>
          <p:cNvSpPr/>
          <p:nvPr/>
        </p:nvSpPr>
        <p:spPr>
          <a:xfrm>
            <a:off x="6858000" y="1572840"/>
            <a:ext cx="1919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0cc33"/>
                </a:solidFill>
                <a:effectLst/>
                <a:uFillTx/>
                <a:latin typeface="Consolas"/>
                <a:ea typeface="Consolas"/>
              </a:rPr>
              <a:t>05/03 as 09:30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15"/>
          <p:cNvSpPr/>
          <p:nvPr/>
        </p:nvSpPr>
        <p:spPr>
          <a:xfrm>
            <a:off x="365760" y="2002680"/>
            <a:ext cx="411120" cy="347040"/>
          </a:xfrm>
          <a:prstGeom prst="rect">
            <a:avLst/>
          </a:prstGeom>
          <a:solidFill>
            <a:srgbClr val="003b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1" name="Text 16"/>
          <p:cNvSpPr/>
          <p:nvPr/>
        </p:nvSpPr>
        <p:spPr>
          <a:xfrm>
            <a:off x="365760" y="2002680"/>
            <a:ext cx="411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03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17"/>
          <p:cNvSpPr/>
          <p:nvPr/>
        </p:nvSpPr>
        <p:spPr>
          <a:xfrm>
            <a:off x="868680" y="2002680"/>
            <a:ext cx="4114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Coleta de catálogos e manuais técnicos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18"/>
          <p:cNvSpPr/>
          <p:nvPr/>
        </p:nvSpPr>
        <p:spPr>
          <a:xfrm>
            <a:off x="5120640" y="2002680"/>
            <a:ext cx="1645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Equipe loja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19"/>
          <p:cNvSpPr/>
          <p:nvPr/>
        </p:nvSpPr>
        <p:spPr>
          <a:xfrm>
            <a:off x="6858000" y="2002680"/>
            <a:ext cx="1919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0cc33"/>
                </a:solidFill>
                <a:effectLst/>
                <a:uFillTx/>
                <a:latin typeface="Consolas"/>
                <a:ea typeface="Consolas"/>
              </a:rPr>
              <a:t>Semana 1-2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20"/>
          <p:cNvSpPr/>
          <p:nvPr/>
        </p:nvSpPr>
        <p:spPr>
          <a:xfrm>
            <a:off x="365760" y="2432160"/>
            <a:ext cx="411120" cy="347040"/>
          </a:xfrm>
          <a:prstGeom prst="rect">
            <a:avLst/>
          </a:prstGeom>
          <a:solidFill>
            <a:srgbClr val="003b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6" name="Text 21"/>
          <p:cNvSpPr/>
          <p:nvPr/>
        </p:nvSpPr>
        <p:spPr>
          <a:xfrm>
            <a:off x="365760" y="2432160"/>
            <a:ext cx="411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04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22"/>
          <p:cNvSpPr/>
          <p:nvPr/>
        </p:nvSpPr>
        <p:spPr>
          <a:xfrm>
            <a:off x="868680" y="2432160"/>
            <a:ext cx="4114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Iniciar visitas benchmarking (Sorocaba/Campinas)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23"/>
          <p:cNvSpPr/>
          <p:nvPr/>
        </p:nvSpPr>
        <p:spPr>
          <a:xfrm>
            <a:off x="5120640" y="2432160"/>
            <a:ext cx="1645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Consultor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24"/>
          <p:cNvSpPr/>
          <p:nvPr/>
        </p:nvSpPr>
        <p:spPr>
          <a:xfrm>
            <a:off x="6858000" y="2432160"/>
            <a:ext cx="1919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0cc33"/>
                </a:solidFill>
                <a:effectLst/>
                <a:uFillTx/>
                <a:latin typeface="Consolas"/>
                <a:ea typeface="Consolas"/>
              </a:rPr>
              <a:t>Semana 2-3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25"/>
          <p:cNvSpPr/>
          <p:nvPr/>
        </p:nvSpPr>
        <p:spPr>
          <a:xfrm>
            <a:off x="365760" y="2862000"/>
            <a:ext cx="411120" cy="347040"/>
          </a:xfrm>
          <a:prstGeom prst="rect">
            <a:avLst/>
          </a:prstGeom>
          <a:solidFill>
            <a:srgbClr val="003b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1" name="Text 26"/>
          <p:cNvSpPr/>
          <p:nvPr/>
        </p:nvSpPr>
        <p:spPr>
          <a:xfrm>
            <a:off x="365760" y="2862000"/>
            <a:ext cx="411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05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27"/>
          <p:cNvSpPr/>
          <p:nvPr/>
        </p:nvSpPr>
        <p:spPr>
          <a:xfrm>
            <a:off x="868680" y="2862000"/>
            <a:ext cx="4114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Solicitar acesso API do banco Santri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28"/>
          <p:cNvSpPr/>
          <p:nvPr/>
        </p:nvSpPr>
        <p:spPr>
          <a:xfrm>
            <a:off x="5120640" y="2862000"/>
            <a:ext cx="1645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CEO + TI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29"/>
          <p:cNvSpPr/>
          <p:nvPr/>
        </p:nvSpPr>
        <p:spPr>
          <a:xfrm>
            <a:off x="6858000" y="2862000"/>
            <a:ext cx="1919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0cc33"/>
                </a:solidFill>
                <a:effectLst/>
                <a:uFillTx/>
                <a:latin typeface="Consolas"/>
                <a:ea typeface="Consolas"/>
              </a:rPr>
              <a:t>Semana 1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30"/>
          <p:cNvSpPr/>
          <p:nvPr/>
        </p:nvSpPr>
        <p:spPr>
          <a:xfrm>
            <a:off x="365760" y="3291840"/>
            <a:ext cx="411120" cy="347040"/>
          </a:xfrm>
          <a:prstGeom prst="rect">
            <a:avLst/>
          </a:prstGeom>
          <a:solidFill>
            <a:srgbClr val="003b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6" name="Text 31"/>
          <p:cNvSpPr/>
          <p:nvPr/>
        </p:nvSpPr>
        <p:spPr>
          <a:xfrm>
            <a:off x="365760" y="3291840"/>
            <a:ext cx="411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06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32"/>
          <p:cNvSpPr/>
          <p:nvPr/>
        </p:nvSpPr>
        <p:spPr>
          <a:xfrm>
            <a:off x="868680" y="3291840"/>
            <a:ext cx="4114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Agendar entrevistas: CEO, Diogo, vendedores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33"/>
          <p:cNvSpPr/>
          <p:nvPr/>
        </p:nvSpPr>
        <p:spPr>
          <a:xfrm>
            <a:off x="5120640" y="3291840"/>
            <a:ext cx="1645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Consultor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34"/>
          <p:cNvSpPr/>
          <p:nvPr/>
        </p:nvSpPr>
        <p:spPr>
          <a:xfrm>
            <a:off x="6858000" y="3291840"/>
            <a:ext cx="1919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0cc33"/>
                </a:solidFill>
                <a:effectLst/>
                <a:uFillTx/>
                <a:latin typeface="Consolas"/>
                <a:ea typeface="Consolas"/>
              </a:rPr>
              <a:t>Semanas 1-2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35"/>
          <p:cNvSpPr/>
          <p:nvPr/>
        </p:nvSpPr>
        <p:spPr>
          <a:xfrm>
            <a:off x="365760" y="3721680"/>
            <a:ext cx="411120" cy="347040"/>
          </a:xfrm>
          <a:prstGeom prst="rect">
            <a:avLst/>
          </a:prstGeom>
          <a:solidFill>
            <a:srgbClr val="003b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1" name="Text 36"/>
          <p:cNvSpPr/>
          <p:nvPr/>
        </p:nvSpPr>
        <p:spPr>
          <a:xfrm>
            <a:off x="365760" y="3721680"/>
            <a:ext cx="411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07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37"/>
          <p:cNvSpPr/>
          <p:nvPr/>
        </p:nvSpPr>
        <p:spPr>
          <a:xfrm>
            <a:off x="868680" y="3721680"/>
            <a:ext cx="4114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Levantar catálogos digitais de fornecedores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38"/>
          <p:cNvSpPr/>
          <p:nvPr/>
        </p:nvSpPr>
        <p:spPr>
          <a:xfrm>
            <a:off x="5120640" y="3721680"/>
            <a:ext cx="1645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Equipe loja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39"/>
          <p:cNvSpPr/>
          <p:nvPr/>
        </p:nvSpPr>
        <p:spPr>
          <a:xfrm>
            <a:off x="6858000" y="3721680"/>
            <a:ext cx="1919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0cc33"/>
                </a:solidFill>
                <a:effectLst/>
                <a:uFillTx/>
                <a:latin typeface="Consolas"/>
                <a:ea typeface="Consolas"/>
              </a:rPr>
              <a:t>Semanas 2-3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40"/>
          <p:cNvSpPr/>
          <p:nvPr/>
        </p:nvSpPr>
        <p:spPr>
          <a:xfrm>
            <a:off x="365760" y="4151520"/>
            <a:ext cx="411120" cy="347040"/>
          </a:xfrm>
          <a:prstGeom prst="rect">
            <a:avLst/>
          </a:prstGeom>
          <a:solidFill>
            <a:srgbClr val="003b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6" name="Text 41"/>
          <p:cNvSpPr/>
          <p:nvPr/>
        </p:nvSpPr>
        <p:spPr>
          <a:xfrm>
            <a:off x="365760" y="4151520"/>
            <a:ext cx="411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08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42"/>
          <p:cNvSpPr/>
          <p:nvPr/>
        </p:nvSpPr>
        <p:spPr>
          <a:xfrm>
            <a:off x="868680" y="4151520"/>
            <a:ext cx="4114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Assinar NDA com empresas das visitas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43"/>
          <p:cNvSpPr/>
          <p:nvPr/>
        </p:nvSpPr>
        <p:spPr>
          <a:xfrm>
            <a:off x="5120640" y="4151520"/>
            <a:ext cx="1645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CEO + Consultor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44"/>
          <p:cNvSpPr/>
          <p:nvPr/>
        </p:nvSpPr>
        <p:spPr>
          <a:xfrm>
            <a:off x="6858000" y="4151520"/>
            <a:ext cx="1919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0cc33"/>
                </a:solidFill>
                <a:effectLst/>
                <a:uFillTx/>
                <a:latin typeface="Consolas"/>
                <a:ea typeface="Consolas"/>
              </a:rPr>
              <a:t>Semana 3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45"/>
          <p:cNvSpPr/>
          <p:nvPr/>
        </p:nvSpPr>
        <p:spPr>
          <a:xfrm>
            <a:off x="457200" y="470916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Construfic Materiais de Construção — Plano de Mentoria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46"/>
          <p:cNvSpPr/>
          <p:nvPr/>
        </p:nvSpPr>
        <p:spPr>
          <a:xfrm>
            <a:off x="7772400" y="47091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25 / 20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00000">
              <a:alpha val="6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3" name="Text 1"/>
          <p:cNvSpPr/>
          <p:nvPr/>
        </p:nvSpPr>
        <p:spPr>
          <a:xfrm>
            <a:off x="457200" y="109728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trike="noStrike" u="none">
                <a:solidFill>
                  <a:srgbClr val="00ff41"/>
                </a:solidFill>
                <a:effectLst/>
                <a:uFillTx/>
                <a:latin typeface="Consolas"/>
                <a:ea typeface="Consolas"/>
              </a:rPr>
              <a:t>Obrigado.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2"/>
          <p:cNvSpPr/>
          <p:nvPr/>
        </p:nvSpPr>
        <p:spPr>
          <a:xfrm>
            <a:off x="457200" y="2103120"/>
            <a:ext cx="3657240" cy="360"/>
          </a:xfrm>
          <a:prstGeom prst="rect">
            <a:avLst/>
          </a:prstGeom>
          <a:noFill/>
          <a:ln w="12700">
            <a:solidFill>
              <a:srgbClr val="00ff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5" name="Text 3"/>
          <p:cNvSpPr/>
          <p:nvPr/>
        </p:nvSpPr>
        <p:spPr>
          <a:xfrm>
            <a:off x="457200" y="2286000"/>
            <a:ext cx="8229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Transformação digital comeca com uma decisão.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E a decisão mais importante e aprender antes de construir.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4"/>
          <p:cNvSpPr/>
          <p:nvPr/>
        </p:nvSpPr>
        <p:spPr>
          <a:xfrm>
            <a:off x="457200" y="3657600"/>
            <a:ext cx="8229240" cy="360"/>
          </a:xfrm>
          <a:prstGeom prst="rect">
            <a:avLst/>
          </a:prstGeom>
          <a:noFill/>
          <a:ln w="6350">
            <a:solidFill>
              <a:srgbClr val="003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7" name="Text 5"/>
          <p:cNvSpPr/>
          <p:nvPr/>
        </p:nvSpPr>
        <p:spPr>
          <a:xfrm>
            <a:off x="457200" y="374904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000" strike="noStrike" u="none">
                <a:solidFill>
                  <a:srgbClr val="00ff41"/>
                </a:solidFill>
                <a:effectLst/>
                <a:uFillTx/>
                <a:latin typeface="Calibri"/>
                <a:ea typeface="Calibri"/>
              </a:rPr>
              <a:t>ZTHUB — ZECOELHO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b0b0b0"/>
                </a:solidFill>
                <a:effectLst/>
                <a:uFillTx/>
                <a:latin typeface="Calibri"/>
                <a:ea typeface="Calibri"/>
              </a:rPr>
              <a:t>Contato: ze@zecoelho.com.br / 14 99877 3344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07070"/>
                </a:solidFill>
                <a:effectLst/>
                <a:uFillTx/>
                <a:latin typeface="Calibri"/>
                <a:ea typeface="Calibri"/>
              </a:rPr>
              <a:t>Confidencial — Marco 2026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</TotalTime>
  <Application>LibreOffice/25.2.6.2$Linux_AARCH64 LibreOffice_project/520$Build-2</Application>
  <AppVersion>15.0000</AppVersion>
  <Words>2877</Words>
  <Paragraphs>626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2026-03-02T21:33:15Z</dcterms:created>
  <dc:creator>ZTHUB - Ze Coelho</dc:creator>
  <dc:description/>
  <dc:language>en-US</dc:language>
  <cp:lastModifiedBy>Jose Fernando Rocha Coelho</cp:lastModifiedBy>
  <dcterms:modified xsi:type="dcterms:W3CDTF">2026-03-04T16:34:51Z</dcterms:modified>
  <cp:revision>2</cp:revision>
  <dc:subject>PptxGenJS Presentation</dc:subject>
  <dc:title>Plano de Mentoria - Construfic - Matrix Edition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26</vt:r8>
  </property>
  <property fmtid="{D5CDD505-2E9C-101B-9397-08002B2CF9AE}" pid="3" name="PresentationFormat">
    <vt:lpwstr>Apresentação na tela (16:9)</vt:lpwstr>
  </property>
  <property fmtid="{D5CDD505-2E9C-101B-9397-08002B2CF9AE}" pid="4" name="Slides">
    <vt:r8>26</vt:r8>
  </property>
</Properties>
</file>