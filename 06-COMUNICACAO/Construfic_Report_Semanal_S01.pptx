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F5E9F21-950F-45DD-B18C-175691ECC5B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EF54A84-1EF5-4535-834C-C25F7C65405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B01523E-167B-4097-AA71-B5F91FF3C15A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054CB5-3BC6-4654-B919-2C3CC1483E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D3FEBF2-4CAC-4561-BFE5-972D5EE162B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D0CD60C-96C1-4C94-9116-B7978A01D16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77CD727-7E0D-4282-9110-3C050C4E0C7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0911210-4AE2-4364-A98F-C51889BBDC6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12D005-6034-48C9-8B74-5D2F98EF4FC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F361FD-391C-4016-A8F3-EC8A72FACE1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1422D17-2760-4A93-903C-CFB165EB920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extBox 1"/>
          <p:cNvSpPr/>
          <p:nvPr/>
        </p:nvSpPr>
        <p:spPr>
          <a:xfrm>
            <a:off x="457200" y="1828800"/>
            <a:ext cx="112770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2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REPORT SEMANAL</a:t>
            </a:r>
            <a:endParaRPr b="0" lang="en-US" sz="7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"/>
          <p:cNvSpPr/>
          <p:nvPr/>
        </p:nvSpPr>
        <p:spPr>
          <a:xfrm>
            <a:off x="457200" y="338328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Mentoria IA — Construfic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457200" y="438912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4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Semanas 1-2 | 01-05 Março 2026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457200" y="5120640"/>
            <a:ext cx="11277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2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ZTHUB TaaS — Zé Coelho, CTO Advisor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457200" y="36576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RESUMO DA SEMANA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Rectangle 2"/>
          <p:cNvSpPr/>
          <p:nvPr/>
        </p:nvSpPr>
        <p:spPr>
          <a:xfrm>
            <a:off x="841320" y="1371600"/>
            <a:ext cx="2468520" cy="2011320"/>
          </a:xfrm>
          <a:prstGeom prst="rect">
            <a:avLst/>
          </a:prstGeom>
          <a:solidFill>
            <a:srgbClr val="1a3a1a"/>
          </a:solidFill>
          <a:ln w="25400"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841320" y="164592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19.5h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841320" y="246888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Horas Realizadas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(de 108h)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Rectangle 5"/>
          <p:cNvSpPr/>
          <p:nvPr/>
        </p:nvSpPr>
        <p:spPr>
          <a:xfrm>
            <a:off x="3694320" y="1371600"/>
            <a:ext cx="2468520" cy="2011320"/>
          </a:xfrm>
          <a:prstGeom prst="rect">
            <a:avLst/>
          </a:prstGeom>
          <a:solidFill>
            <a:srgbClr val="1a3a1a"/>
          </a:solidFill>
          <a:ln w="25400"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6"/>
          <p:cNvSpPr/>
          <p:nvPr/>
        </p:nvSpPr>
        <p:spPr>
          <a:xfrm>
            <a:off x="3694320" y="164592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3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7"/>
          <p:cNvSpPr/>
          <p:nvPr/>
        </p:nvSpPr>
        <p:spPr>
          <a:xfrm>
            <a:off x="3694320" y="246888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Reuniões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Presenciais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8"/>
          <p:cNvSpPr/>
          <p:nvPr/>
        </p:nvSpPr>
        <p:spPr>
          <a:xfrm>
            <a:off x="6546960" y="1371600"/>
            <a:ext cx="2468520" cy="2011320"/>
          </a:xfrm>
          <a:prstGeom prst="rect">
            <a:avLst/>
          </a:prstGeom>
          <a:solidFill>
            <a:srgbClr val="1a3a1a"/>
          </a:solidFill>
          <a:ln w="25400"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9"/>
          <p:cNvSpPr/>
          <p:nvPr/>
        </p:nvSpPr>
        <p:spPr>
          <a:xfrm>
            <a:off x="6546960" y="164592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77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0"/>
          <p:cNvSpPr/>
          <p:nvPr/>
        </p:nvSpPr>
        <p:spPr>
          <a:xfrm>
            <a:off x="6546960" y="246888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Perguntas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Respondidas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(de 183)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Rectangle 11"/>
          <p:cNvSpPr/>
          <p:nvPr/>
        </p:nvSpPr>
        <p:spPr>
          <a:xfrm>
            <a:off x="9399960" y="1371600"/>
            <a:ext cx="2468520" cy="2011320"/>
          </a:xfrm>
          <a:prstGeom prst="rect">
            <a:avLst/>
          </a:prstGeom>
          <a:solidFill>
            <a:srgbClr val="1a3a1a"/>
          </a:solidFill>
          <a:ln w="25400"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2"/>
          <p:cNvSpPr/>
          <p:nvPr/>
        </p:nvSpPr>
        <p:spPr>
          <a:xfrm>
            <a:off x="9399960" y="164592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2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52%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3"/>
          <p:cNvSpPr/>
          <p:nvPr/>
        </p:nvSpPr>
        <p:spPr>
          <a:xfrm>
            <a:off x="9399960" y="2468880"/>
            <a:ext cx="24685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Cobertura dos</a:t>
            </a:r>
            <a:endParaRPr b="0" lang="en-US" sz="11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Roteiros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1"/>
          <p:cNvSpPr/>
          <p:nvPr/>
        </p:nvSpPr>
        <p:spPr>
          <a:xfrm>
            <a:off x="457200" y="36576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ATIVIDADES EXECUTADAS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7" name="Table 2"/>
          <p:cNvGraphicFramePr/>
          <p:nvPr/>
        </p:nvGraphicFramePr>
        <p:xfrm>
          <a:off x="365760" y="1097280"/>
          <a:ext cx="11429640" cy="5303160"/>
        </p:xfrm>
        <a:graphic>
          <a:graphicData uri="http://schemas.openxmlformats.org/drawingml/2006/table">
            <a:tbl>
              <a:tblPr/>
              <a:tblGrid>
                <a:gridCol w="914400"/>
                <a:gridCol w="1097280"/>
                <a:gridCol w="8046720"/>
                <a:gridCol w="1371600"/>
              </a:tblGrid>
              <a:tr h="662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Data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Tipo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Descrição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Horas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</a:tr>
              <a:tr h="662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01/03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Remoto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Preparação plano v4 (32 páginas), pesquisa RAG, roteiros entrevista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4h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</a:tr>
              <a:tr h="662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02/03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Presencial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Reunião alinhamento com CEO e Gerente Diogo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1.5h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</a:tr>
              <a:tr h="662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02/03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Remoto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Atualização plano: correção ERP (Santri), CSAT, WhatsApp áudio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2h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</a:tr>
              <a:tr h="662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03/03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Presencial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Reunião diagnóstico TI com CEO, Diogo e Daniel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2.5h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</a:tr>
              <a:tr h="662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03/03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Remoto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Consolidação reunião, atualização entregáveis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3h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</a:tr>
              <a:tr h="662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04/03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Remoto (I2AI)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Reunião revisão com Marco Lauria — best practices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1h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</a:tr>
              <a:tr h="662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04/03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Remoto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Transcrição Whisper, ata, documento Q&amp;A 183 perguntas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3h</a:t>
                      </a:r>
                      <a:endParaRPr b="0" lang="en-US" sz="1000" strike="noStrike" u="non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0f1e0f"/>
                    </a:solidFill>
                  </a:tcPr>
                </a:tc>
              </a:tr>
              <a:tr h="662760"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05/03</a:t>
                      </a: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Presencial</a:t>
                      </a: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Imersão Técnica TI com Daniel: hardware, rede, backups, segurança</a:t>
                      </a: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000" strike="noStrike" u="none">
                          <a:solidFill>
                            <a:srgbClr val="0a1a0a"/>
                          </a:solidFill>
                          <a:effectLst/>
                          <a:uFillTx/>
                          <a:latin typeface="Calibri"/>
                        </a:rPr>
                        <a:t>2.5h</a:t>
                      </a:r>
                    </a:p>
                  </a:txBody>
                  <a:tcPr anchor="t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a3a1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Box 1"/>
          <p:cNvSpPr/>
          <p:nvPr/>
        </p:nvSpPr>
        <p:spPr>
          <a:xfrm>
            <a:off x="457200" y="36576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PRINCIPAIS ACHADOS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2"/>
          <p:cNvSpPr/>
          <p:nvPr/>
        </p:nvSpPr>
        <p:spPr>
          <a:xfrm>
            <a:off x="914400" y="1188720"/>
            <a:ext cx="1036260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Dor central confirmada: descontrole de estoque (físico ≠ sistema ERP Santri)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ERP é Santri (não TOTVS) — especializado em materiais de construção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CEO prioriza visibilidade de indicadores e dashboard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Gerente Diogo tem 79% de cobertura nos roteiros — maior engajamento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Vendedores (0%) e Financeiro (9%) — próximas entrevistas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  <a:spcAft>
                <a:spcPts val="799"/>
              </a:spcAft>
            </a:pPr>
            <a:r>
              <a:rPr b="0" lang="en-US" sz="16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TI (Daniel) saltou de 47% para 91% — CEO subiu de 52% para 70%</a:t>
            </a:r>
            <a:endParaRPr b="0" lang="en-US" sz="16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Box 1"/>
          <p:cNvSpPr/>
          <p:nvPr/>
        </p:nvSpPr>
        <p:spPr>
          <a:xfrm>
            <a:off x="457200" y="36576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PRÓXIMOS PASSOS — SEMANA 3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914400" y="1188720"/>
            <a:ext cx="10362600" cy="52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Agendar entrevistas individuais com vendedores-chave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Agendar reunião com administrativo-financeiro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Reunião com Santri — mapeamento backup e restore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Pesquisar solução de inventário de TI (prazo: 11/03)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spcAft>
                <a:spcPts val="1001"/>
              </a:spcAft>
            </a:pPr>
            <a:r>
              <a:rPr b="0" lang="en-US" sz="1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Iniciar MVP Rápido no-code (NotebookLM/Claude) com subset de dados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a1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Box 1"/>
          <p:cNvSpPr/>
          <p:nvPr/>
        </p:nvSpPr>
        <p:spPr>
          <a:xfrm>
            <a:off x="457200" y="365760"/>
            <a:ext cx="112770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000" strike="noStrike" u="none">
                <a:solidFill>
                  <a:srgbClr val="00ff41"/>
                </a:solidFill>
                <a:effectLst/>
                <a:uFillTx/>
                <a:latin typeface="Consolas"/>
              </a:rPr>
              <a:t>MÉTRICAS DO PROJETO</a:t>
            </a:r>
            <a:endParaRPr b="0" lang="en-US" sz="4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731520" y="11887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Horas Utilizadas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9601200" y="11887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18.1%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 4"/>
          <p:cNvSpPr/>
          <p:nvPr/>
        </p:nvSpPr>
        <p:spPr>
          <a:xfrm>
            <a:off x="731520" y="1600200"/>
            <a:ext cx="10698120" cy="3654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6" name="Rectangle 5"/>
          <p:cNvSpPr/>
          <p:nvPr/>
        </p:nvSpPr>
        <p:spPr>
          <a:xfrm>
            <a:off x="731520" y="1600200"/>
            <a:ext cx="1936360" cy="365400"/>
          </a:xfrm>
          <a:prstGeom prst="rect">
            <a:avLst/>
          </a:prstGeom>
          <a:solidFill>
            <a:srgbClr val="00ff41"/>
          </a:solidFill>
          <a:ln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6"/>
          <p:cNvSpPr/>
          <p:nvPr/>
        </p:nvSpPr>
        <p:spPr>
          <a:xfrm>
            <a:off x="731520" y="205740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19.5/108h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731520" y="237744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Cobertura Q&amp;A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8"/>
          <p:cNvSpPr/>
          <p:nvPr/>
        </p:nvSpPr>
        <p:spPr>
          <a:xfrm>
            <a:off x="9601200" y="23774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52%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9"/>
          <p:cNvSpPr/>
          <p:nvPr/>
        </p:nvSpPr>
        <p:spPr>
          <a:xfrm>
            <a:off x="731520" y="2788920"/>
            <a:ext cx="10698120" cy="3654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Rectangle 10"/>
          <p:cNvSpPr/>
          <p:nvPr/>
        </p:nvSpPr>
        <p:spPr>
          <a:xfrm>
            <a:off x="731520" y="2788920"/>
            <a:ext cx="5562822" cy="365400"/>
          </a:xfrm>
          <a:prstGeom prst="rect">
            <a:avLst/>
          </a:prstGeom>
          <a:solidFill>
            <a:srgbClr val="00ff41"/>
          </a:solidFill>
          <a:ln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2" name="TextBox 11"/>
          <p:cNvSpPr/>
          <p:nvPr/>
        </p:nvSpPr>
        <p:spPr>
          <a:xfrm>
            <a:off x="731520" y="324612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CEO: 70% | TI: 91% | Gerente: 79% | Vendedores: 0% | Financeiro: 6%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12"/>
          <p:cNvSpPr/>
          <p:nvPr/>
        </p:nvSpPr>
        <p:spPr>
          <a:xfrm>
            <a:off x="731520" y="365760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Reuniões Presenciais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13"/>
          <p:cNvSpPr/>
          <p:nvPr/>
        </p:nvSpPr>
        <p:spPr>
          <a:xfrm>
            <a:off x="9601200" y="36576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100%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14"/>
          <p:cNvSpPr/>
          <p:nvPr/>
        </p:nvSpPr>
        <p:spPr>
          <a:xfrm>
            <a:off x="731520" y="4069080"/>
            <a:ext cx="10698120" cy="3654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ectangle 15"/>
          <p:cNvSpPr/>
          <p:nvPr/>
        </p:nvSpPr>
        <p:spPr>
          <a:xfrm>
            <a:off x="731520" y="4069080"/>
            <a:ext cx="10698120" cy="365400"/>
          </a:xfrm>
          <a:prstGeom prst="rect">
            <a:avLst/>
          </a:prstGeom>
          <a:solidFill>
            <a:srgbClr val="00ff41"/>
          </a:solidFill>
          <a:ln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16"/>
          <p:cNvSpPr/>
          <p:nvPr/>
        </p:nvSpPr>
        <p:spPr>
          <a:xfrm>
            <a:off x="731520" y="452628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Meta: 2 por semana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7"/>
          <p:cNvSpPr/>
          <p:nvPr/>
        </p:nvSpPr>
        <p:spPr>
          <a:xfrm>
            <a:off x="731520" y="4846320"/>
            <a:ext cx="3200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Meta Go/No-Go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8"/>
          <p:cNvSpPr/>
          <p:nvPr/>
        </p:nvSpPr>
        <p:spPr>
          <a:xfrm>
            <a:off x="9601200" y="48463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400" strike="noStrike" u="none">
                <a:solidFill>
                  <a:srgbClr val="00ff41"/>
                </a:solidFill>
                <a:effectLst/>
                <a:uFillTx/>
                <a:latin typeface="Calibri"/>
              </a:rPr>
              <a:t>85%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9"/>
          <p:cNvSpPr/>
          <p:nvPr/>
        </p:nvSpPr>
        <p:spPr>
          <a:xfrm>
            <a:off x="731520" y="5257800"/>
            <a:ext cx="10698120" cy="365400"/>
          </a:xfrm>
          <a:prstGeom prst="rect">
            <a:avLst/>
          </a:prstGeom>
          <a:solidFill>
            <a:srgbClr val="1a3a1a"/>
          </a:solidFill>
          <a:ln w="12700"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Rectangle 20"/>
          <p:cNvSpPr/>
          <p:nvPr/>
        </p:nvSpPr>
        <p:spPr>
          <a:xfrm>
            <a:off x="731520" y="5257800"/>
            <a:ext cx="9093240" cy="365400"/>
          </a:xfrm>
          <a:prstGeom prst="rect">
            <a:avLst/>
          </a:prstGeom>
          <a:solidFill>
            <a:srgbClr val="00ff41"/>
          </a:solidFill>
          <a:ln>
            <a:solidFill>
              <a:srgbClr val="00ff4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TextBox 21"/>
          <p:cNvSpPr/>
          <p:nvPr/>
        </p:nvSpPr>
        <p:spPr>
          <a:xfrm>
            <a:off x="731520" y="5715000"/>
            <a:ext cx="106981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0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CSAT ≥ 4.5 | Tempo resposta &lt; 10s</a:t>
            </a:r>
            <a:endParaRPr b="0" lang="en-US" sz="1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LibreOffice/25.2.6.2$Linux_AARCH64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